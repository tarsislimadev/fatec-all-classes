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12191675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Wgn8aAqkcBC8CMJwmKvnLRoo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34E158-B427-4B10-AD73-76A979FBE912}">
  <a:tblStyle styleId="{5A34E158-B427-4B10-AD73-76A979FBE9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6.xml"/><Relationship Id="rId22" Type="http://schemas.openxmlformats.org/officeDocument/2006/relationships/font" Target="fonts/Inter-italic.fntdata"/><Relationship Id="rId10" Type="http://schemas.openxmlformats.org/officeDocument/2006/relationships/slide" Target="slides/slide5.xml"/><Relationship Id="rId21" Type="http://schemas.openxmlformats.org/officeDocument/2006/relationships/font" Target="fonts/Inter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661475" y="2498130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Previsão de Preços de Imóveis com Machine Learning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6682" y="4057452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Um guia prático para estudantes e iniciantes em ML — do conceito à aplicação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61475" y="526951"/>
            <a:ext cx="10868745" cy="54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400"/>
              <a:buFont typeface="DM Sans Medium"/>
              <a:buNone/>
            </a:pPr>
            <a:r>
              <a:rPr b="0" i="0" lang="en-US" sz="34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Por Que Prever Preços de Imóveis?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61475" y="2192238"/>
            <a:ext cx="5786491" cy="201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mercado imobiliário movimenta </a:t>
            </a:r>
            <a:r>
              <a:rPr b="1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trilhões de dólares globalmente</a:t>
            </a: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a cada ano. Decisões de compra e venda dependem de avaliações precisas — e errar o preço pode custar caro para compradores, vendedores e investidores.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110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Algoritmos de Machine Learning entram nesse cenário para </a:t>
            </a:r>
            <a:r>
              <a:rPr b="1" i="0" lang="en-US" sz="13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reduzir a subjetividade humana</a:t>
            </a: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, acelerar avaliações e aumentar a confiança nas estimativas.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61475" y="4355902"/>
            <a:ext cx="5786491" cy="1183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Mercado imobiliário movimenta trilhões globalmente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Avaliações precisas são essenciais para compradores e vendedores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ML reduz tempo, custo e viés nas estimativas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9358" y="1493044"/>
            <a:ext cx="4657112" cy="465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661475" y="146843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 Desafio: Múltiplas Variáveis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61475" y="2437110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Prever o preço de um imóvel não é simples — dezenas de fatores interagem ao mesmo tempo. Um bom modelo de ML precisa capturar todas essas dimensões.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61475" y="3254573"/>
            <a:ext cx="3496877" cy="2134890"/>
          </a:xfrm>
          <a:prstGeom prst="roundRect">
            <a:avLst>
              <a:gd fmla="val 1328" name="adj"/>
            </a:avLst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50482" y="3443585"/>
            <a:ext cx="3118863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🏠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Características Físicas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50482" y="3858617"/>
            <a:ext cx="3118863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Tamanho total (m²)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Número de quartos e banheiros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Idade e estado de conservação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347359" y="3254573"/>
            <a:ext cx="3496877" cy="2134890"/>
          </a:xfrm>
          <a:prstGeom prst="roundRect">
            <a:avLst>
              <a:gd fmla="val 1328" name="adj"/>
            </a:avLst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536366" y="3443585"/>
            <a:ext cx="3118863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Localização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36366" y="3858617"/>
            <a:ext cx="3118863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Bairro e cidade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Proximidade a transporte público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Índices de segurança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033244" y="3254573"/>
            <a:ext cx="3496877" cy="2134890"/>
          </a:xfrm>
          <a:prstGeom prst="roundRect">
            <a:avLst>
              <a:gd fmla="val 1328" name="adj"/>
            </a:avLst>
          </a:prstGeom>
          <a:solidFill>
            <a:srgbClr val="4C5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222251" y="3443585"/>
            <a:ext cx="3118863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Fatores Socioeconômicos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222251" y="4153892"/>
            <a:ext cx="3118863" cy="1039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Renda média da região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Densidade populacional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Infraestrutura e serviços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661475" y="52685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Regressão Linear: O Ponto de Partida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13595"/>
            <a:ext cx="5203794" cy="284360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1913478" y="2861234"/>
            <a:ext cx="1205751" cy="328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000"/>
              <a:buFont typeface="DM Sans Medium"/>
              <a:buNone/>
            </a:pPr>
            <a:r>
              <a:rPr b="0" i="0" lang="en-US" sz="10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Entrada: variáveis do imóvel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914131" y="2833801"/>
            <a:ext cx="1205751" cy="328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000"/>
              <a:buFont typeface="DM Sans Medium"/>
              <a:buNone/>
            </a:pPr>
            <a:r>
              <a:rPr b="0" i="0" lang="en-US" sz="10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Saída: preço estimado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332776" y="2430562"/>
            <a:ext cx="520379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Regressão Linear é o </a:t>
            </a:r>
            <a:r>
              <a:rPr b="1" i="0" lang="en-US" sz="14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primeiro algoritmo que todo estudante de ML deve aprender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 Ela ajusta uma linha que minimiza os erros entre as previsões e os valores reais do conjunto de treino.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4882455"/>
            <a:ext cx="5339820" cy="144869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977479" y="5096867"/>
            <a:ext cx="4809409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Vantagem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77479" y="5511899"/>
            <a:ext cx="48094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Simples, rápido e altamente interpretável — ótimo para prototipagem.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301" y="4882455"/>
            <a:ext cx="5339919" cy="144869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506305" y="5096867"/>
            <a:ext cx="4809509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Limitação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506305" y="5511899"/>
            <a:ext cx="48095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Não captura relações complexas ou não-lineares entre variáveis.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661475" y="541437"/>
            <a:ext cx="10868745" cy="581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650"/>
              <a:buFont typeface="DM Sans Medium"/>
              <a:buNone/>
            </a:pPr>
            <a:r>
              <a:rPr b="0" i="0" lang="en-US" sz="36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Random Forest: Força na Diversidade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61475" y="1489174"/>
            <a:ext cx="1086874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Em vez de confiar em uma única árvore de decisão, o Random Forest </a:t>
            </a:r>
            <a:r>
              <a:rPr b="1" i="0" lang="en-US" sz="14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constrói centenas de árvores independentes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e combina seus resultados para uma previsão mais robusta e confiável.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285702"/>
            <a:ext cx="3622882" cy="74424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847505" y="3213100"/>
            <a:ext cx="3250821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00"/>
              <a:buFont typeface="DM Sans Medium"/>
              <a:buNone/>
            </a:pPr>
            <a:r>
              <a:rPr b="0" i="0" lang="en-US" sz="180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Dados de Entrada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47505" y="3613646"/>
            <a:ext cx="325082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Características do imóvel alimentam o modelo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2285702"/>
            <a:ext cx="3622882" cy="7442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4470387" y="3213100"/>
            <a:ext cx="3250821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00"/>
              <a:buFont typeface="DM Sans Medium"/>
              <a:buNone/>
            </a:pPr>
            <a:r>
              <a:rPr b="0" i="0" lang="en-US" sz="180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Múltiplas Árvores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470387" y="3613646"/>
            <a:ext cx="325082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Cada árvore aprende de uma amostra diferente dos dados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2285702"/>
            <a:ext cx="3622882" cy="7442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8093269" y="3213100"/>
            <a:ext cx="3250821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00"/>
              <a:buFont typeface="DM Sans Medium"/>
              <a:buNone/>
            </a:pPr>
            <a:r>
              <a:rPr b="0" i="0" lang="en-US" sz="180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Combinação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093269" y="3613646"/>
            <a:ext cx="325082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média dos resultados gera a previsão final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61475" y="4802188"/>
            <a:ext cx="5207465" cy="1013023"/>
          </a:xfrm>
          <a:prstGeom prst="roundRect">
            <a:avLst>
              <a:gd fmla="val 2755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505" y="5078512"/>
            <a:ext cx="232563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1266099" y="5013424"/>
            <a:ext cx="441681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Vantagem: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Robusto a outliers e excelente em capturar relações não-lineares entre variáveis.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329105" y="4802188"/>
            <a:ext cx="5207465" cy="1308298"/>
          </a:xfrm>
          <a:prstGeom prst="roundRect">
            <a:avLst>
              <a:gd fmla="val 2133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5135" y="5078512"/>
            <a:ext cx="232563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6933729" y="5013424"/>
            <a:ext cx="4416811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Limitação: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Exige mais poder computacional do que modelos simples como a Regressão Linear.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661475" y="526951"/>
            <a:ext cx="10868745" cy="54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400"/>
              <a:buFont typeface="DM Sans Medium"/>
              <a:buNone/>
            </a:pPr>
            <a:r>
              <a:rPr b="0" i="0" lang="en-US" sz="34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XGBoost: Aprendizado Sequencial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493044"/>
            <a:ext cx="4657112" cy="465722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5749980" y="2188468"/>
            <a:ext cx="5786491" cy="1071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XGBoost não cria modelos independentes — ele os cria </a:t>
            </a:r>
            <a:r>
              <a:rPr b="1" i="0" lang="en-US" sz="13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em sequência</a:t>
            </a: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, onde cada novo modelo foca em corrigir os erros cometidos pelo anterior. Essa abordagem de "gradient boosting" é responsável por sua precisão excepcional.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749980" y="3404195"/>
            <a:ext cx="5786491" cy="91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Altíssima precisão em problemas de regressão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Escalável para grandes datasets com milhões de registros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350"/>
              <a:buFont typeface="Inter"/>
              <a:buChar char="•"/>
            </a:pPr>
            <a:r>
              <a:rPr b="0" i="0" lang="en-US" sz="13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Amplamente usado em competições de ciência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749980" y="4500563"/>
            <a:ext cx="5786491" cy="918170"/>
          </a:xfrm>
          <a:prstGeom prst="roundRect">
            <a:avLst>
              <a:gd fmla="val 2847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203" y="4749105"/>
            <a:ext cx="217780" cy="17422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6316207" y="4688681"/>
            <a:ext cx="5046040" cy="54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Limitação: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Requer ajuste fino cuidadoso de hiperparâmetros para atingir seu potencial máximo.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661475" y="94357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CatBoost: Especialista em Dados Reais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61475" y="1912243"/>
            <a:ext cx="1086874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Dados imobiliários do mundo real estão cheios de variáveis categóricas — tipo de bairro, material de construção, categoria de financiamento. O CatBoost foi projetado exatamente para lidar com isso </a:t>
            </a:r>
            <a:r>
              <a:rPr b="1" i="0" lang="en-US" sz="145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sem pré-processamento complexo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03212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370177" y="3032125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50"/>
              <a:buFont typeface="DM Sans Medium"/>
              <a:buNone/>
            </a:pP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Processamento Nativo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370177" y="3440807"/>
            <a:ext cx="275672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Lida com variáveis categóricas automaticamente, sem necessidade de encoding manual.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303212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5071836" y="3032125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50"/>
              <a:buFont typeface="DM Sans Medium"/>
              <a:buNone/>
            </a:pP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Menos Overfitting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71836" y="3440807"/>
            <a:ext cx="275672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Técnicas internas reduzem o risco de o modelo "decorar" os dados de treino.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303212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8773496" y="3032125"/>
            <a:ext cx="275672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850"/>
              <a:buFont typeface="DM Sans Medium"/>
              <a:buNone/>
            </a:pP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Excelente em Dados Tabulares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773496" y="3736082"/>
            <a:ext cx="275672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Performa excepcionalmente bem em datasets estruturados, comuns no mercado imobiliário.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61475" y="5158383"/>
            <a:ext cx="10868745" cy="755948"/>
          </a:xfrm>
          <a:prstGeom prst="roundRect">
            <a:avLst>
              <a:gd fmla="val 3751" name="adj"/>
            </a:avLst>
          </a:prstGeom>
          <a:solidFill>
            <a:srgbClr val="1D0C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482" y="5426075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1275723" y="5394623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Limitação: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Menos popular que o XGBoost, com comunidade e recursos de suporte menores.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661475" y="92323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Casos de Sucesso no Mundo Real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61475" y="1891903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Esses algoritmos não são apenas teoria — eles já estão em produção em empresas reais, gerando estimativas que impactam decisões de bilhões de dólares.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709366"/>
            <a:ext cx="3496877" cy="3225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875881" y="3490813"/>
            <a:ext cx="306806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🇺🇸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Zillow (EUA)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875881" y="3905845"/>
            <a:ext cx="306806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famoso </a:t>
            </a:r>
            <a:r>
              <a:rPr b="1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"Zestimate"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usa XGBoost e CatBoost combinados para gerar estimativas de alta precisão para mais de 100 milhões de imóveis nos Estados Unidos.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359" y="2709366"/>
            <a:ext cx="3496877" cy="3225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4561766" y="3490813"/>
            <a:ext cx="306806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🇧🇷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SmartAval (Brasil)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61766" y="3905845"/>
            <a:ext cx="3068065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Plataforma brasileira de avaliação automatizada que cruza </a:t>
            </a:r>
            <a:r>
              <a:rPr b="1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dados geoespaciais e históricos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para estimar valores de imóveis com velocidade e consistência.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244" y="2709366"/>
            <a:ext cx="3496877" cy="3225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8247650" y="3490813"/>
            <a:ext cx="306806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r>
              <a:rPr b="0" i="0" lang="en-US" sz="1850" u="none" cap="none" strike="noStrike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Ames Housing Dataset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8247650" y="3905845"/>
            <a:ext cx="306806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Benchmark clássico de ML: modelos baseados em gradient boosting alcançam regularmente </a:t>
            </a:r>
            <a:r>
              <a:rPr b="1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R² acima de 93%</a:t>
            </a: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referência de excelência para iniciantes e pesquisadores.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661475" y="55721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3700"/>
              <a:buFont typeface="DM Sans Medium"/>
              <a:buNone/>
            </a:pPr>
            <a:r>
              <a:rPr b="0" i="0" lang="en-US" sz="370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Comparação Rápida: Qual Escolher?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61475" y="1525885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Não existe um algoritmo perfeito para todos os cenários. A escolha certa depende do seu projeto, dos seus dados e dos seus objetivos.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9"/>
          <p:cNvGraphicFramePr/>
          <p:nvPr/>
        </p:nvGraphicFramePr>
        <p:xfrm>
          <a:off x="661475" y="2343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{5A34E158-B427-4B10-AD73-76A979FBE912}</a:tableStyleId>
              </a:tblPr>
              <a:tblGrid>
                <a:gridCol w="3043250"/>
                <a:gridCol w="2608500"/>
                <a:gridCol w="2608500"/>
                <a:gridCol w="2608500"/>
              </a:tblGrid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Algoritmo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9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Melhor Para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9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Ponto Forte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9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Atenção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AC9E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9EF5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Regressão Linear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Protótipos rápidos e projetos simples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Interpretabilidade total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Não captura não-linearidade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Dados com outliers e ruído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Robustez e estabilidade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 computacional alto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Datasets grandes e complexos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Máxima precisão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Requer ajuste de hiperparâmetros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</a:tr>
              <a:tr h="84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CatBoost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Dados com muitas categorias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Menos pré-processamento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D9D7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Comunidade menor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D31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F62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7F8"/>
              </a:buClr>
              <a:buSzPts val="1850"/>
              <a:buFont typeface="DM Sans Medium"/>
              <a:buNone/>
            </a:pPr>
            <a:r>
              <a:rPr b="0" i="0" lang="en-US" sz="1850" u="none" cap="none" strike="noStrike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 Futuro: Boosting Domina o Mercado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61475" y="3212405"/>
            <a:ext cx="5319083" cy="382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XGBoost e CatBoost já se consolidaram como o </a:t>
            </a:r>
            <a:r>
              <a:rPr b="1" i="0" lang="en-US" sz="700" u="none" cap="none" strike="noStrike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padrão da indústria</a:t>
            </a: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em Sistemas de Avaliação Automatizada (AVM — Automated Valuation Models), permitindo estimativas rápidas e confiáveis para compra, venda e planejamento urbano.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D9D7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próximo horizonte é ainda mais ambicioso: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61475" y="3637558"/>
            <a:ext cx="5319083" cy="373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700"/>
              <a:buFont typeface="Inter"/>
              <a:buChar char="•"/>
            </a:pP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Integração com </a:t>
            </a:r>
            <a:r>
              <a:rPr b="1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dados em tempo real</a:t>
            </a: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(mercado financeiro, tendências de busca)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700"/>
              <a:buFont typeface="Inter"/>
              <a:buChar char="•"/>
            </a:pP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Fusão com </a:t>
            </a:r>
            <a:r>
              <a:rPr b="1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modelos de deep learning</a:t>
            </a: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para análise de imagens e texto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9D7"/>
              </a:buClr>
              <a:buSzPts val="700"/>
              <a:buFont typeface="Inter"/>
              <a:buChar char="•"/>
            </a:pPr>
            <a:r>
              <a:rPr b="0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AVMs cada vez mais acessíveis para o </a:t>
            </a:r>
            <a:r>
              <a:rPr b="1" i="0" lang="en-US" sz="700" u="none" cap="none" strike="noStrike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mercado brasileiro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487" y="939006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/>
          <p:nvPr/>
        </p:nvSpPr>
        <p:spPr>
          <a:xfrm>
            <a:off x="661475" y="6364387"/>
            <a:ext cx="10868745" cy="250329"/>
          </a:xfrm>
          <a:prstGeom prst="roundRect">
            <a:avLst>
              <a:gd fmla="val 5663" name="adj"/>
            </a:avLst>
          </a:prstGeom>
          <a:solidFill>
            <a:srgbClr val="1D0C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929" y="6435229"/>
            <a:ext cx="118067" cy="94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/>
          <p:nvPr/>
        </p:nvSpPr>
        <p:spPr>
          <a:xfrm>
            <a:off x="968450" y="6435229"/>
            <a:ext cx="11076901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Próximo passo para estudantes: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Explore o Ames Housing Dataset no Kaggle e implemente seu primeiro modelo de Regressão Linear — depois compare com XGBoost e veja a diferença na prática.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2026-09-16T14:21:06Z</dcterms:created>
</cp:coreProperties>
</file>