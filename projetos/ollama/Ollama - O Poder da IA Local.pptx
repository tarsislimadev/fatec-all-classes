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5143500" cx="9144000"/>
  <p:notesSz cx="5143500" cy="9144000"/>
  <p:embeddedFontLst>
    <p:embeddedFont>
      <p:font typeface="Raleway"/>
      <p:regular r:id="rId15"/>
      <p:bold r:id="rId16"/>
      <p:italic r:id="rId17"/>
      <p:boldItalic r:id="rId18"/>
    </p:embeddedFont>
    <p:embeddedFont>
      <p:font typeface="Roboto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bold.fntdata"/><Relationship Id="rId11" Type="http://schemas.openxmlformats.org/officeDocument/2006/relationships/slide" Target="slides/slide7.xml"/><Relationship Id="rId22" Type="http://schemas.openxmlformats.org/officeDocument/2006/relationships/font" Target="fonts/Roboto-boldItalic.fntdata"/><Relationship Id="rId10" Type="http://schemas.openxmlformats.org/officeDocument/2006/relationships/slide" Target="slides/slide6.xml"/><Relationship Id="rId21" Type="http://schemas.openxmlformats.org/officeDocument/2006/relationships/font" Target="fonts/Roboto-italic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Raleway-regular.fntdata"/><Relationship Id="rId14" Type="http://schemas.openxmlformats.org/officeDocument/2006/relationships/slide" Target="slides/slide10.xml"/><Relationship Id="rId17" Type="http://schemas.openxmlformats.org/officeDocument/2006/relationships/font" Target="fonts/Raleway-italic.fntdata"/><Relationship Id="rId16" Type="http://schemas.openxmlformats.org/officeDocument/2006/relationships/font" Target="fonts/Raleway-bold.fntdata"/><Relationship Id="rId5" Type="http://schemas.openxmlformats.org/officeDocument/2006/relationships/slide" Target="slides/slide1.xml"/><Relationship Id="rId19" Type="http://schemas.openxmlformats.org/officeDocument/2006/relationships/font" Target="fonts/Roboto-regular.fntdata"/><Relationship Id="rId6" Type="http://schemas.openxmlformats.org/officeDocument/2006/relationships/slide" Target="slides/slide2.xml"/><Relationship Id="rId18" Type="http://schemas.openxmlformats.org/officeDocument/2006/relationships/font" Target="fonts/Raleway-bold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/>
              <a:t>‹#›</a:t>
            </a:fld>
            <a:endParaRPr b="0" i="0" sz="1200" u="none" cap="none" strike="noStrike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" name="Google Shape;4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" name="Google Shape;5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" name="Google Shape;76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" name="Google Shape;95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2" name="Google Shape;122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7" name="Google Shape;147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6" name="Google Shape;156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9" name="Google Shape;179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5" name="Google Shape;195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2" name="Google Shape;212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3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3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3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3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3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3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3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3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3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3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">
  <p:cSld name="Slide 1 master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" name="Google Shape;12;p2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9180" y="4844491"/>
            <a:ext cx="1071843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 master">
  <p:cSld name="Slide 2 mast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5" name="Google Shape;15;p3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9180" y="4844491"/>
            <a:ext cx="1071843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 master">
  <p:cSld name="Slide 3 mast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8" name="Google Shape;18;p4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9180" y="4844491"/>
            <a:ext cx="1071843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4 master">
  <p:cSld name="Slide 4 mast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" name="Google Shape;21;p5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9180" y="4844491"/>
            <a:ext cx="1071843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5 master">
  <p:cSld name="Slide 5 master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4" name="Google Shape;24;p6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9180" y="4844491"/>
            <a:ext cx="1071843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6 master">
  <p:cSld name="Slide 6 master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7" name="Google Shape;27;p7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9180" y="4844491"/>
            <a:ext cx="1071843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7 master">
  <p:cSld name="Slide 7 master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0" name="Google Shape;30;p8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9180" y="4844491"/>
            <a:ext cx="1071843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8 master">
  <p:cSld name="Slide 8 mast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3" name="Google Shape;33;p9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9180" y="4844491"/>
            <a:ext cx="1071843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9 master">
  <p:cSld name="Slide 9 master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6" name="Google Shape;36;p10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9180" y="4844491"/>
            <a:ext cx="1071843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0 master">
  <p:cSld name="Slide 10 master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9" name="Google Shape;39;p11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9180" y="4844491"/>
            <a:ext cx="1071843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3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3"/>
          <p:cNvSpPr/>
          <p:nvPr/>
        </p:nvSpPr>
        <p:spPr>
          <a:xfrm>
            <a:off x="5715000" y="0"/>
            <a:ext cx="3429000" cy="5143500"/>
          </a:xfrm>
          <a:prstGeom prst="rect">
            <a:avLst/>
          </a:prstGeom>
          <a:solidFill>
            <a:srgbClr val="E1E1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7" name="Google Shape;47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76987" y="92943"/>
            <a:ext cx="3305026" cy="4957539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13"/>
          <p:cNvSpPr/>
          <p:nvPr/>
        </p:nvSpPr>
        <p:spPr>
          <a:xfrm>
            <a:off x="496119" y="1602358"/>
            <a:ext cx="4722763" cy="7750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2400"/>
              <a:buFont typeface="Raleway"/>
              <a:buNone/>
            </a:pPr>
            <a:r>
              <a:rPr b="0" i="0" lang="en-US" sz="2400" u="none" cap="none" strike="noStrike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Ollama: O Poder da IA Local em Suas Mãos</a:t>
            </a:r>
            <a:endParaRPr b="0" i="0" sz="2400" u="none" cap="none" strike="noStrike"/>
          </a:p>
        </p:txBody>
      </p:sp>
      <p:sp>
        <p:nvSpPr>
          <p:cNvPr id="49" name="Google Shape;49;p13"/>
          <p:cNvSpPr/>
          <p:nvPr/>
        </p:nvSpPr>
        <p:spPr>
          <a:xfrm>
            <a:off x="496119" y="2563490"/>
            <a:ext cx="4722763" cy="5953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950"/>
              <a:buFont typeface="Roboto"/>
              <a:buNone/>
            </a:pPr>
            <a:r>
              <a:rPr b="0" i="0" lang="en-US" sz="9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Execute os maiores modelos de linguagem do mundo diretamente no seu computador — sem nuvem, sem APIs pagas, sem limites. O Ollama democratiza o acesso à inteligência artificial para desenvolvedores, pesquisadores e entusiastas.</a:t>
            </a:r>
            <a:endParaRPr b="0" i="0" sz="950" u="none" cap="none" strike="noStrike"/>
          </a:p>
        </p:txBody>
      </p:sp>
      <p:sp>
        <p:nvSpPr>
          <p:cNvPr id="50" name="Google Shape;50;p13"/>
          <p:cNvSpPr/>
          <p:nvPr/>
        </p:nvSpPr>
        <p:spPr>
          <a:xfrm>
            <a:off x="496119" y="3303166"/>
            <a:ext cx="567258" cy="233214"/>
          </a:xfrm>
          <a:prstGeom prst="roundRect">
            <a:avLst>
              <a:gd fmla="val 17872" name="adj"/>
            </a:avLst>
          </a:prstGeom>
          <a:solidFill>
            <a:srgbClr val="E1E1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13"/>
          <p:cNvSpPr/>
          <p:nvPr/>
        </p:nvSpPr>
        <p:spPr>
          <a:xfrm>
            <a:off x="570533" y="3340373"/>
            <a:ext cx="875630" cy="15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750"/>
              <a:buFont typeface="Roboto"/>
              <a:buNone/>
            </a:pPr>
            <a:r>
              <a:rPr b="0" i="0" lang="en-US" sz="7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IA LOCAL</a:t>
            </a:r>
            <a:endParaRPr b="0" i="0" sz="750" u="none" cap="none" strike="noStrike"/>
          </a:p>
        </p:txBody>
      </p:sp>
      <p:sp>
        <p:nvSpPr>
          <p:cNvPr id="52" name="Google Shape;52;p13"/>
          <p:cNvSpPr/>
          <p:nvPr/>
        </p:nvSpPr>
        <p:spPr>
          <a:xfrm>
            <a:off x="1125364" y="3298403"/>
            <a:ext cx="814462" cy="242739"/>
          </a:xfrm>
          <a:prstGeom prst="roundRect">
            <a:avLst>
              <a:gd fmla="val 17171" name="adj"/>
            </a:avLst>
          </a:prstGeom>
          <a:noFill/>
          <a:ln cap="flat" cmpd="sng" w="9525">
            <a:solidFill>
              <a:srgbClr val="1B1B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13"/>
          <p:cNvSpPr/>
          <p:nvPr/>
        </p:nvSpPr>
        <p:spPr>
          <a:xfrm>
            <a:off x="1204540" y="3340373"/>
            <a:ext cx="1113309" cy="15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750"/>
              <a:buFont typeface="Roboto"/>
              <a:buNone/>
            </a:pPr>
            <a:r>
              <a:rPr b="0" i="0" lang="en-US" sz="750" u="none" cap="none" strike="noStrike">
                <a:solidFill>
                  <a:srgbClr val="1B1B27"/>
                </a:solidFill>
                <a:latin typeface="Roboto"/>
                <a:ea typeface="Roboto"/>
                <a:cs typeface="Roboto"/>
                <a:sym typeface="Roboto"/>
              </a:rPr>
              <a:t>OPEN SOURCE</a:t>
            </a:r>
            <a:endParaRPr b="0" i="0" sz="750" u="none" cap="none" strike="noStrike"/>
          </a:p>
        </p:txBody>
      </p:sp>
      <p:sp>
        <p:nvSpPr>
          <p:cNvPr id="54" name="Google Shape;54;p13"/>
          <p:cNvSpPr/>
          <p:nvPr/>
        </p:nvSpPr>
        <p:spPr>
          <a:xfrm>
            <a:off x="2001813" y="3298403"/>
            <a:ext cx="774576" cy="242739"/>
          </a:xfrm>
          <a:prstGeom prst="roundRect">
            <a:avLst>
              <a:gd fmla="val 17171" name="adj"/>
            </a:avLst>
          </a:prstGeom>
          <a:noFill/>
          <a:ln cap="flat" cmpd="sng" w="9525">
            <a:solidFill>
              <a:srgbClr val="1B1B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/>
          <p:nvPr/>
        </p:nvSpPr>
        <p:spPr>
          <a:xfrm>
            <a:off x="2080989" y="3340373"/>
            <a:ext cx="1073423" cy="15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750"/>
              <a:buFont typeface="Roboto"/>
              <a:buNone/>
            </a:pPr>
            <a:r>
              <a:rPr b="0" i="0" lang="en-US" sz="750" u="none" cap="none" strike="noStrike">
                <a:solidFill>
                  <a:srgbClr val="1B1B27"/>
                </a:solidFill>
                <a:latin typeface="Roboto"/>
                <a:ea typeface="Roboto"/>
                <a:cs typeface="Roboto"/>
                <a:sym typeface="Roboto"/>
              </a:rPr>
              <a:t>PRIVACIDADE</a:t>
            </a:r>
            <a:endParaRPr b="0" i="0" sz="750" u="none" cap="none" strike="noStrike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/>
          <p:nvPr/>
        </p:nvSpPr>
        <p:spPr>
          <a:xfrm>
            <a:off x="0" y="0"/>
            <a:ext cx="3429000" cy="5143500"/>
          </a:xfrm>
          <a:prstGeom prst="rect">
            <a:avLst/>
          </a:prstGeom>
          <a:solidFill>
            <a:srgbClr val="E1E1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2" name="Google Shape;6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987" y="92943"/>
            <a:ext cx="3305026" cy="4957539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4"/>
          <p:cNvSpPr/>
          <p:nvPr/>
        </p:nvSpPr>
        <p:spPr>
          <a:xfrm>
            <a:off x="3925119" y="540618"/>
            <a:ext cx="4722763" cy="7750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2400"/>
              <a:buFont typeface="Raleway"/>
              <a:buNone/>
            </a:pPr>
            <a:r>
              <a:rPr b="0" i="0" lang="en-US" sz="2400" u="none" cap="none" strike="noStrike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O Fim da Dependência da Nuvem</a:t>
            </a:r>
            <a:endParaRPr b="0" i="0" sz="2400" u="none" cap="none" strike="noStrike"/>
          </a:p>
        </p:txBody>
      </p:sp>
      <p:sp>
        <p:nvSpPr>
          <p:cNvPr id="64" name="Google Shape;64;p14"/>
          <p:cNvSpPr/>
          <p:nvPr/>
        </p:nvSpPr>
        <p:spPr>
          <a:xfrm>
            <a:off x="3925119" y="1501750"/>
            <a:ext cx="4722763" cy="396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950"/>
              <a:buFont typeface="Roboto"/>
              <a:buNone/>
            </a:pPr>
            <a:r>
              <a:rPr b="0" i="0" lang="en-US" sz="9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O Ollama elimina a barreira entre você e a IA de ponta. Sem depender de serviços externos, você ganha autonomia total sobre seus projetos e dados.</a:t>
            </a:r>
            <a:endParaRPr b="0" i="0" sz="950" u="none" cap="none" strike="noStrike"/>
          </a:p>
        </p:txBody>
      </p:sp>
      <p:sp>
        <p:nvSpPr>
          <p:cNvPr id="65" name="Google Shape;65;p14"/>
          <p:cNvSpPr/>
          <p:nvPr/>
        </p:nvSpPr>
        <p:spPr>
          <a:xfrm>
            <a:off x="3925119" y="2038201"/>
            <a:ext cx="2299395" cy="1518047"/>
          </a:xfrm>
          <a:prstGeom prst="roundRect">
            <a:avLst>
              <a:gd fmla="val 3432" name="adj"/>
            </a:avLst>
          </a:prstGeom>
          <a:solidFill>
            <a:srgbClr val="E1E1EA"/>
          </a:solidFill>
          <a:ln cap="flat" cmpd="sng" w="9525">
            <a:solidFill>
              <a:srgbClr val="C7C7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14"/>
          <p:cNvSpPr/>
          <p:nvPr/>
        </p:nvSpPr>
        <p:spPr>
          <a:xfrm>
            <a:off x="4053855" y="2166938"/>
            <a:ext cx="1550566" cy="193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aleway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🔓</a:t>
            </a:r>
            <a:r>
              <a:rPr b="0" i="0" lang="en-US" sz="120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 Liberdade</a:t>
            </a:r>
            <a:endParaRPr b="0" i="0" sz="1200" u="none" cap="none" strike="noStrike"/>
          </a:p>
        </p:txBody>
      </p:sp>
      <p:sp>
        <p:nvSpPr>
          <p:cNvPr id="67" name="Google Shape;67;p14"/>
          <p:cNvSpPr/>
          <p:nvPr/>
        </p:nvSpPr>
        <p:spPr>
          <a:xfrm>
            <a:off x="4053855" y="2435200"/>
            <a:ext cx="2041922" cy="793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950"/>
              <a:buFont typeface="Roboto"/>
              <a:buNone/>
            </a:pPr>
            <a:r>
              <a:rPr b="0" i="0" lang="en-US" sz="9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Execute modelos como </a:t>
            </a:r>
            <a:r>
              <a:rPr b="1" i="0" lang="en-US" sz="9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Llama 3</a:t>
            </a:r>
            <a:r>
              <a:rPr b="0" i="0" lang="en-US" sz="9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b="1" i="0" lang="en-US" sz="9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Mistral</a:t>
            </a:r>
            <a:r>
              <a:rPr b="0" i="0" lang="en-US" sz="9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e </a:t>
            </a:r>
            <a:r>
              <a:rPr b="1" i="0" lang="en-US" sz="9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Gemma</a:t>
            </a:r>
            <a:r>
              <a:rPr b="0" i="0" lang="en-US" sz="9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sem APIs externas ou chaves de acesso. Você não fica refém de provedores de nuvem.</a:t>
            </a:r>
            <a:endParaRPr b="0" i="0" sz="950" u="none" cap="none" strike="noStrike"/>
          </a:p>
        </p:txBody>
      </p:sp>
      <p:sp>
        <p:nvSpPr>
          <p:cNvPr id="68" name="Google Shape;68;p14"/>
          <p:cNvSpPr/>
          <p:nvPr/>
        </p:nvSpPr>
        <p:spPr>
          <a:xfrm>
            <a:off x="6348487" y="2038201"/>
            <a:ext cx="2299395" cy="1518047"/>
          </a:xfrm>
          <a:prstGeom prst="roundRect">
            <a:avLst>
              <a:gd fmla="val 3432" name="adj"/>
            </a:avLst>
          </a:prstGeom>
          <a:solidFill>
            <a:srgbClr val="E1E1EA"/>
          </a:solidFill>
          <a:ln cap="flat" cmpd="sng" w="9525">
            <a:solidFill>
              <a:srgbClr val="C7C7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14"/>
          <p:cNvSpPr/>
          <p:nvPr/>
        </p:nvSpPr>
        <p:spPr>
          <a:xfrm>
            <a:off x="6477223" y="2166938"/>
            <a:ext cx="1550566" cy="193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aleway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🔒</a:t>
            </a:r>
            <a:r>
              <a:rPr b="0" i="0" lang="en-US" sz="120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 Privacidade Total</a:t>
            </a:r>
            <a:endParaRPr b="0" i="0" sz="1200" u="none" cap="none" strike="noStrike"/>
          </a:p>
        </p:txBody>
      </p:sp>
      <p:sp>
        <p:nvSpPr>
          <p:cNvPr id="70" name="Google Shape;70;p14"/>
          <p:cNvSpPr/>
          <p:nvPr/>
        </p:nvSpPr>
        <p:spPr>
          <a:xfrm>
            <a:off x="6477223" y="2435200"/>
            <a:ext cx="2041922" cy="992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950"/>
              <a:buFont typeface="Roboto"/>
              <a:buNone/>
            </a:pPr>
            <a:r>
              <a:rPr b="0" i="0" lang="en-US" sz="9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Seus dados nunca saem do seu computador. Ideal para projetos sensíveis, dados corporativos confidenciais e experimentação segura.</a:t>
            </a:r>
            <a:endParaRPr b="0" i="0" sz="950" u="none" cap="none" strike="noStrike"/>
          </a:p>
        </p:txBody>
      </p:sp>
      <p:sp>
        <p:nvSpPr>
          <p:cNvPr id="71" name="Google Shape;71;p14"/>
          <p:cNvSpPr/>
          <p:nvPr/>
        </p:nvSpPr>
        <p:spPr>
          <a:xfrm>
            <a:off x="3925119" y="3680222"/>
            <a:ext cx="4722763" cy="922660"/>
          </a:xfrm>
          <a:prstGeom prst="roundRect">
            <a:avLst>
              <a:gd fmla="val 5647" name="adj"/>
            </a:avLst>
          </a:prstGeom>
          <a:solidFill>
            <a:srgbClr val="E1E1EA"/>
          </a:solidFill>
          <a:ln cap="flat" cmpd="sng" w="9525">
            <a:solidFill>
              <a:srgbClr val="C7C7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4"/>
          <p:cNvSpPr/>
          <p:nvPr/>
        </p:nvSpPr>
        <p:spPr>
          <a:xfrm>
            <a:off x="4053855" y="3808958"/>
            <a:ext cx="1550566" cy="193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aleway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🌐</a:t>
            </a:r>
            <a:r>
              <a:rPr b="0" i="0" lang="en-US" sz="120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 Acesso Offline</a:t>
            </a:r>
            <a:endParaRPr b="0" i="0" sz="1200" u="none" cap="none" strike="noStrike"/>
          </a:p>
        </p:txBody>
      </p:sp>
      <p:sp>
        <p:nvSpPr>
          <p:cNvPr id="73" name="Google Shape;73;p14"/>
          <p:cNvSpPr/>
          <p:nvPr/>
        </p:nvSpPr>
        <p:spPr>
          <a:xfrm>
            <a:off x="4053855" y="4077221"/>
            <a:ext cx="4465290" cy="396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950"/>
              <a:buFont typeface="Roboto"/>
              <a:buNone/>
            </a:pPr>
            <a:r>
              <a:rPr b="0" i="0" lang="en-US" sz="9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IA disponível em qualquer lugar, com ou sem internet. Funciona em viagens, ambientes restritos e infraestruturas isoladas.</a:t>
            </a:r>
            <a:endParaRPr b="0" i="0" sz="950" u="none" cap="none" strike="noStrike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5"/>
          <p:cNvSpPr/>
          <p:nvPr/>
        </p:nvSpPr>
        <p:spPr>
          <a:xfrm>
            <a:off x="496119" y="865659"/>
            <a:ext cx="5733306" cy="3875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2400"/>
              <a:buFont typeface="Raleway"/>
              <a:buNone/>
            </a:pPr>
            <a:r>
              <a:rPr b="0" i="0" lang="en-US" sz="2400" u="none" cap="none" strike="noStrike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Como Funciona: A Magia no Terminal</a:t>
            </a:r>
            <a:endParaRPr b="0" i="0" sz="2400" u="none" cap="none" strike="noStrike"/>
          </a:p>
        </p:txBody>
      </p:sp>
      <p:sp>
        <p:nvSpPr>
          <p:cNvPr id="80" name="Google Shape;80;p15"/>
          <p:cNvSpPr/>
          <p:nvPr/>
        </p:nvSpPr>
        <p:spPr>
          <a:xfrm>
            <a:off x="496119" y="1501229"/>
            <a:ext cx="8151763" cy="396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950"/>
              <a:buFont typeface="Roboto"/>
              <a:buNone/>
            </a:pPr>
            <a:r>
              <a:rPr b="0" i="0" lang="en-US" sz="9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O Ollama atua como um gerenciador e executor de modelos de linguagem, simplificando todo o processo de instalação e execução. Em poucos minutos, você está conversando com uma IA poderosa.</a:t>
            </a:r>
            <a:endParaRPr b="0" i="0" sz="950" u="none" cap="none" strike="noStrike"/>
          </a:p>
        </p:txBody>
      </p:sp>
      <p:sp>
        <p:nvSpPr>
          <p:cNvPr id="81" name="Google Shape;81;p15"/>
          <p:cNvSpPr/>
          <p:nvPr/>
        </p:nvSpPr>
        <p:spPr>
          <a:xfrm>
            <a:off x="406822" y="2037680"/>
            <a:ext cx="4103191" cy="2240161"/>
          </a:xfrm>
          <a:prstGeom prst="roundRect">
            <a:avLst>
              <a:gd fmla="val 3987" name="adj"/>
            </a:avLst>
          </a:prstGeom>
          <a:solidFill>
            <a:srgbClr val="1B1B27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5"/>
          <p:cNvSpPr/>
          <p:nvPr/>
        </p:nvSpPr>
        <p:spPr>
          <a:xfrm>
            <a:off x="530796" y="2161654"/>
            <a:ext cx="2194247" cy="193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aleway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Instalação em um Passo</a:t>
            </a:r>
            <a:endParaRPr b="0" i="0" sz="1200" u="none" cap="none" strike="noStrike"/>
          </a:p>
        </p:txBody>
      </p:sp>
      <p:sp>
        <p:nvSpPr>
          <p:cNvPr id="83" name="Google Shape;83;p15"/>
          <p:cNvSpPr/>
          <p:nvPr/>
        </p:nvSpPr>
        <p:spPr>
          <a:xfrm>
            <a:off x="530796" y="2479477"/>
            <a:ext cx="3855244" cy="396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Roboto"/>
              <a:buNone/>
            </a:pPr>
            <a:r>
              <a:rPr b="0" i="0" lang="en-US" sz="9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Com um único comando no terminal, o Ollama é instalado e configurado automaticamente em qualquer sistema Unix:</a:t>
            </a:r>
            <a:endParaRPr b="0" i="0" sz="950" u="none" cap="none" strike="noStrike"/>
          </a:p>
        </p:txBody>
      </p:sp>
      <p:sp>
        <p:nvSpPr>
          <p:cNvPr id="84" name="Google Shape;84;p15"/>
          <p:cNvSpPr/>
          <p:nvPr/>
        </p:nvSpPr>
        <p:spPr>
          <a:xfrm>
            <a:off x="530796" y="3015928"/>
            <a:ext cx="3855244" cy="446410"/>
          </a:xfrm>
          <a:prstGeom prst="roundRect">
            <a:avLst>
              <a:gd fmla="val 11671" name="adj"/>
            </a:avLst>
          </a:prstGeom>
          <a:solidFill>
            <a:srgbClr val="28283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15"/>
          <p:cNvSpPr/>
          <p:nvPr/>
        </p:nvSpPr>
        <p:spPr>
          <a:xfrm>
            <a:off x="524619" y="3015928"/>
            <a:ext cx="3867596" cy="446410"/>
          </a:xfrm>
          <a:prstGeom prst="roundRect">
            <a:avLst>
              <a:gd fmla="val 4168" name="adj"/>
            </a:avLst>
          </a:prstGeom>
          <a:solidFill>
            <a:srgbClr val="28283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5"/>
          <p:cNvSpPr/>
          <p:nvPr/>
        </p:nvSpPr>
        <p:spPr>
          <a:xfrm>
            <a:off x="679624" y="3139901"/>
            <a:ext cx="4014788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FFFFFF"/>
                </a:solidFill>
                <a:highlight>
                  <a:srgbClr val="282834"/>
                </a:highlight>
                <a:latin typeface="Consolas"/>
                <a:ea typeface="Consolas"/>
                <a:cs typeface="Consolas"/>
                <a:sym typeface="Consolas"/>
              </a:rPr>
              <a:t>curl -fsSL https://ollama.com/install.sh | sh</a:t>
            </a:r>
            <a:endParaRPr b="0" i="0" sz="950" u="none" cap="none" strike="noStrike"/>
          </a:p>
        </p:txBody>
      </p:sp>
      <p:sp>
        <p:nvSpPr>
          <p:cNvPr id="87" name="Google Shape;87;p15"/>
          <p:cNvSpPr/>
          <p:nvPr/>
        </p:nvSpPr>
        <p:spPr>
          <a:xfrm>
            <a:off x="530796" y="3601864"/>
            <a:ext cx="4312444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Roboto"/>
              <a:buNone/>
            </a:pPr>
            <a:r>
              <a:rPr b="0" i="0" lang="en-US" sz="9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Para Windows, há um instalador nativo disponível no site oficial.</a:t>
            </a:r>
            <a:endParaRPr b="0" i="0" sz="950" u="none" cap="none" strike="noStrike"/>
          </a:p>
        </p:txBody>
      </p:sp>
      <p:sp>
        <p:nvSpPr>
          <p:cNvPr id="88" name="Google Shape;88;p15"/>
          <p:cNvSpPr/>
          <p:nvPr/>
        </p:nvSpPr>
        <p:spPr>
          <a:xfrm>
            <a:off x="4728046" y="2161654"/>
            <a:ext cx="2341290" cy="193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1200"/>
              <a:buFont typeface="Raleway"/>
              <a:buNone/>
            </a:pPr>
            <a:r>
              <a:rPr b="0" i="0" lang="en-US" sz="1200" u="none" cap="none" strike="noStrike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Servidor Local Automático</a:t>
            </a:r>
            <a:endParaRPr b="0" i="0" sz="1200" u="none" cap="none" strike="noStrike"/>
          </a:p>
        </p:txBody>
      </p:sp>
      <p:sp>
        <p:nvSpPr>
          <p:cNvPr id="89" name="Google Shape;89;p15"/>
          <p:cNvSpPr/>
          <p:nvPr/>
        </p:nvSpPr>
        <p:spPr>
          <a:xfrm>
            <a:off x="4728046" y="2479477"/>
            <a:ext cx="3924598" cy="793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950"/>
              <a:buFont typeface="Roboto"/>
              <a:buNone/>
            </a:pPr>
            <a:r>
              <a:rPr b="0" i="0" lang="en-US" sz="9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Após a instalação, o Ollama inicia automaticamente um servidor em </a:t>
            </a:r>
            <a:r>
              <a:rPr b="1" i="0" lang="en-US" sz="9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localhost:11434</a:t>
            </a:r>
            <a:r>
              <a:rPr b="0" i="0" lang="en-US" sz="9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. Esse servidor gerencia o download, o carregamento e a execução dos modelos, expondo uma API REST simples para integração com outras ferramentas.</a:t>
            </a:r>
            <a:endParaRPr b="0" i="0" sz="950" u="none" cap="none" strike="noStrike"/>
          </a:p>
        </p:txBody>
      </p:sp>
      <p:sp>
        <p:nvSpPr>
          <p:cNvPr id="90" name="Google Shape;90;p15"/>
          <p:cNvSpPr/>
          <p:nvPr/>
        </p:nvSpPr>
        <p:spPr>
          <a:xfrm>
            <a:off x="4728046" y="3412852"/>
            <a:ext cx="3924598" cy="725463"/>
          </a:xfrm>
          <a:prstGeom prst="roundRect">
            <a:avLst>
              <a:gd fmla="val 7182" name="adj"/>
            </a:avLst>
          </a:prstGeom>
          <a:solidFill>
            <a:srgbClr val="B6D6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1" name="Google Shape;9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52020" y="3597399"/>
            <a:ext cx="155004" cy="123974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5"/>
          <p:cNvSpPr/>
          <p:nvPr/>
        </p:nvSpPr>
        <p:spPr>
          <a:xfrm>
            <a:off x="5130998" y="3567782"/>
            <a:ext cx="3397672" cy="396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Roboto"/>
              <a:buNone/>
            </a:pPr>
            <a:r>
              <a:rPr b="0" i="0" lang="en-US" sz="9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O servidor roda em segundo plano e pode ser acessado por qualquer aplicação na sua máquina.</a:t>
            </a:r>
            <a:endParaRPr b="0" i="0" sz="950" u="none" cap="none" strike="noStrike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6"/>
          <p:cNvSpPr/>
          <p:nvPr/>
        </p:nvSpPr>
        <p:spPr>
          <a:xfrm>
            <a:off x="496119" y="406747"/>
            <a:ext cx="5873130" cy="3875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2400"/>
              <a:buFont typeface="Raleway"/>
              <a:buNone/>
            </a:pPr>
            <a:r>
              <a:rPr b="0" i="0" lang="en-US" sz="2400" u="none" cap="none" strike="noStrike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Comandos Essenciais para o Dia a Dia</a:t>
            </a:r>
            <a:endParaRPr b="0" i="0" sz="2400" u="none" cap="none" strike="noStrike"/>
          </a:p>
        </p:txBody>
      </p:sp>
      <p:sp>
        <p:nvSpPr>
          <p:cNvPr id="99" name="Google Shape;99;p16"/>
          <p:cNvSpPr/>
          <p:nvPr/>
        </p:nvSpPr>
        <p:spPr>
          <a:xfrm>
            <a:off x="496119" y="1042318"/>
            <a:ext cx="8151763" cy="396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950"/>
              <a:buFont typeface="Roboto"/>
              <a:buNone/>
            </a:pPr>
            <a:r>
              <a:rPr b="0" i="0" lang="en-US" sz="9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O Ollama oferece uma interface de linha de comando intuitiva e poderosa. Com apenas quatro comandos principais, você controla todo o ciclo de vida dos seus modelos de IA.</a:t>
            </a:r>
            <a:endParaRPr b="0" i="0" sz="950" u="none" cap="none" strike="noStrike"/>
          </a:p>
        </p:txBody>
      </p:sp>
      <p:sp>
        <p:nvSpPr>
          <p:cNvPr id="100" name="Google Shape;100;p16"/>
          <p:cNvSpPr/>
          <p:nvPr/>
        </p:nvSpPr>
        <p:spPr>
          <a:xfrm>
            <a:off x="496119" y="1578769"/>
            <a:ext cx="4013895" cy="1521768"/>
          </a:xfrm>
          <a:prstGeom prst="roundRect">
            <a:avLst>
              <a:gd fmla="val 3424" name="adj"/>
            </a:avLst>
          </a:prstGeom>
          <a:solidFill>
            <a:srgbClr val="FFFFFF">
              <a:alpha val="94901"/>
            </a:srgbClr>
          </a:solidFill>
          <a:ln cap="flat" cmpd="sng" w="14275">
            <a:solidFill>
              <a:srgbClr val="C7C7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16"/>
          <p:cNvSpPr/>
          <p:nvPr/>
        </p:nvSpPr>
        <p:spPr>
          <a:xfrm>
            <a:off x="510406" y="1593056"/>
            <a:ext cx="3985320" cy="372070"/>
          </a:xfrm>
          <a:prstGeom prst="roundRect">
            <a:avLst>
              <a:gd fmla="val 9395" name="adj"/>
            </a:avLst>
          </a:prstGeom>
          <a:solidFill>
            <a:srgbClr val="E1E1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16"/>
          <p:cNvSpPr/>
          <p:nvPr/>
        </p:nvSpPr>
        <p:spPr>
          <a:xfrm>
            <a:off x="2410048" y="1660401"/>
            <a:ext cx="186035" cy="2325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450"/>
              <a:buFont typeface="Raleway"/>
              <a:buNone/>
            </a:pPr>
            <a:r>
              <a:rPr b="0" i="0" lang="en-US" sz="145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1</a:t>
            </a:r>
            <a:endParaRPr b="0" i="0" sz="1450" u="none" cap="none" strike="noStrike"/>
          </a:p>
        </p:txBody>
      </p:sp>
      <p:sp>
        <p:nvSpPr>
          <p:cNvPr id="103" name="Google Shape;103;p16"/>
          <p:cNvSpPr/>
          <p:nvPr/>
        </p:nvSpPr>
        <p:spPr>
          <a:xfrm>
            <a:off x="634380" y="2089100"/>
            <a:ext cx="1550566" cy="193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200"/>
              <a:buFont typeface="Raleway"/>
              <a:buNone/>
            </a:pPr>
            <a:r>
              <a:rPr b="0" i="0" lang="en-US" sz="120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ollama pull [modelo]</a:t>
            </a:r>
            <a:endParaRPr b="0" i="0" sz="1200" u="none" cap="none" strike="noStrike"/>
          </a:p>
        </p:txBody>
      </p:sp>
      <p:sp>
        <p:nvSpPr>
          <p:cNvPr id="104" name="Google Shape;104;p16"/>
          <p:cNvSpPr/>
          <p:nvPr/>
        </p:nvSpPr>
        <p:spPr>
          <a:xfrm>
            <a:off x="634380" y="2357363"/>
            <a:ext cx="3737372" cy="6049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950"/>
              <a:buFont typeface="Roboto"/>
              <a:buNone/>
            </a:pPr>
            <a:r>
              <a:rPr b="0" i="0" lang="en-US" sz="9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Baixa o modelo desejado do repositório oficial. Exemplo: </a:t>
            </a:r>
            <a:r>
              <a:rPr b="0" i="0" lang="en-US" sz="950" u="none" cap="none" strike="noStrike">
                <a:solidFill>
                  <a:srgbClr val="3C3939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ollama pull llama3.2</a:t>
            </a:r>
            <a:r>
              <a:rPr b="0" i="0" lang="en-US" sz="9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ou </a:t>
            </a:r>
            <a:r>
              <a:rPr b="0" i="0" lang="en-US" sz="950" u="none" cap="none" strike="noStrike">
                <a:solidFill>
                  <a:srgbClr val="3C3939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ollama pull mistral</a:t>
            </a:r>
            <a:r>
              <a:rPr b="0" i="0" lang="en-US" sz="9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. O download é feito automaticamente e os modelos ficam armazenados localmente.</a:t>
            </a:r>
            <a:endParaRPr b="0" i="0" sz="950" u="none" cap="none" strike="noStrike"/>
          </a:p>
        </p:txBody>
      </p:sp>
      <p:sp>
        <p:nvSpPr>
          <p:cNvPr id="105" name="Google Shape;105;p16"/>
          <p:cNvSpPr/>
          <p:nvPr/>
        </p:nvSpPr>
        <p:spPr>
          <a:xfrm>
            <a:off x="4633987" y="1578769"/>
            <a:ext cx="4013895" cy="1521768"/>
          </a:xfrm>
          <a:prstGeom prst="roundRect">
            <a:avLst>
              <a:gd fmla="val 3424" name="adj"/>
            </a:avLst>
          </a:prstGeom>
          <a:solidFill>
            <a:srgbClr val="FFFFFF">
              <a:alpha val="94901"/>
            </a:srgbClr>
          </a:solidFill>
          <a:ln cap="flat" cmpd="sng" w="14275">
            <a:solidFill>
              <a:srgbClr val="C7C7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6"/>
          <p:cNvSpPr/>
          <p:nvPr/>
        </p:nvSpPr>
        <p:spPr>
          <a:xfrm>
            <a:off x="4648274" y="1593056"/>
            <a:ext cx="3985320" cy="372070"/>
          </a:xfrm>
          <a:prstGeom prst="roundRect">
            <a:avLst>
              <a:gd fmla="val 9395" name="adj"/>
            </a:avLst>
          </a:prstGeom>
          <a:solidFill>
            <a:srgbClr val="E1E1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6"/>
          <p:cNvSpPr/>
          <p:nvPr/>
        </p:nvSpPr>
        <p:spPr>
          <a:xfrm>
            <a:off x="6547917" y="1660401"/>
            <a:ext cx="186035" cy="2325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450"/>
              <a:buFont typeface="Raleway"/>
              <a:buNone/>
            </a:pPr>
            <a:r>
              <a:rPr b="0" i="0" lang="en-US" sz="145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2</a:t>
            </a:r>
            <a:endParaRPr b="0" i="0" sz="1450" u="none" cap="none" strike="noStrike"/>
          </a:p>
        </p:txBody>
      </p:sp>
      <p:sp>
        <p:nvSpPr>
          <p:cNvPr id="108" name="Google Shape;108;p16"/>
          <p:cNvSpPr/>
          <p:nvPr/>
        </p:nvSpPr>
        <p:spPr>
          <a:xfrm>
            <a:off x="4772248" y="2089100"/>
            <a:ext cx="1550566" cy="193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200"/>
              <a:buFont typeface="Raleway"/>
              <a:buNone/>
            </a:pPr>
            <a:r>
              <a:rPr b="0" i="0" lang="en-US" sz="120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ollama run [modelo]</a:t>
            </a:r>
            <a:endParaRPr b="0" i="0" sz="1200" u="none" cap="none" strike="noStrike"/>
          </a:p>
        </p:txBody>
      </p:sp>
      <p:sp>
        <p:nvSpPr>
          <p:cNvPr id="109" name="Google Shape;109;p16"/>
          <p:cNvSpPr/>
          <p:nvPr/>
        </p:nvSpPr>
        <p:spPr>
          <a:xfrm>
            <a:off x="4772248" y="2357363"/>
            <a:ext cx="3737372" cy="5953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950"/>
              <a:buFont typeface="Roboto"/>
              <a:buNone/>
            </a:pPr>
            <a:r>
              <a:rPr b="0" i="0" lang="en-US" sz="9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Inicia uma sessão interativa de chat com o modelo escolhido. Você conversa diretamente no terminal, como se estivesse usando o ChatGPT, mas totalmente offline.</a:t>
            </a:r>
            <a:endParaRPr b="0" i="0" sz="950" u="none" cap="none" strike="noStrike"/>
          </a:p>
        </p:txBody>
      </p:sp>
      <p:sp>
        <p:nvSpPr>
          <p:cNvPr id="110" name="Google Shape;110;p16"/>
          <p:cNvSpPr/>
          <p:nvPr/>
        </p:nvSpPr>
        <p:spPr>
          <a:xfrm>
            <a:off x="496119" y="3224510"/>
            <a:ext cx="4013895" cy="1512243"/>
          </a:xfrm>
          <a:prstGeom prst="roundRect">
            <a:avLst>
              <a:gd fmla="val 3445" name="adj"/>
            </a:avLst>
          </a:prstGeom>
          <a:solidFill>
            <a:srgbClr val="FFFFFF">
              <a:alpha val="94901"/>
            </a:srgbClr>
          </a:solidFill>
          <a:ln cap="flat" cmpd="sng" w="14275">
            <a:solidFill>
              <a:srgbClr val="C7C7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16"/>
          <p:cNvSpPr/>
          <p:nvPr/>
        </p:nvSpPr>
        <p:spPr>
          <a:xfrm>
            <a:off x="510406" y="3238798"/>
            <a:ext cx="3985320" cy="372070"/>
          </a:xfrm>
          <a:prstGeom prst="roundRect">
            <a:avLst>
              <a:gd fmla="val 9395" name="adj"/>
            </a:avLst>
          </a:prstGeom>
          <a:solidFill>
            <a:srgbClr val="E1E1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16"/>
          <p:cNvSpPr/>
          <p:nvPr/>
        </p:nvSpPr>
        <p:spPr>
          <a:xfrm>
            <a:off x="2410048" y="3306142"/>
            <a:ext cx="186035" cy="2325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450"/>
              <a:buFont typeface="Raleway"/>
              <a:buNone/>
            </a:pPr>
            <a:r>
              <a:rPr b="0" i="0" lang="en-US" sz="145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3</a:t>
            </a:r>
            <a:endParaRPr b="0" i="0" sz="1450" u="none" cap="none" strike="noStrike"/>
          </a:p>
        </p:txBody>
      </p:sp>
      <p:sp>
        <p:nvSpPr>
          <p:cNvPr id="113" name="Google Shape;113;p16"/>
          <p:cNvSpPr/>
          <p:nvPr/>
        </p:nvSpPr>
        <p:spPr>
          <a:xfrm>
            <a:off x="634380" y="3734842"/>
            <a:ext cx="1550566" cy="193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200"/>
              <a:buFont typeface="Raleway"/>
              <a:buNone/>
            </a:pPr>
            <a:r>
              <a:rPr b="0" i="0" lang="en-US" sz="120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ollama list</a:t>
            </a:r>
            <a:endParaRPr b="0" i="0" sz="1200" u="none" cap="none" strike="noStrike"/>
          </a:p>
        </p:txBody>
      </p:sp>
      <p:sp>
        <p:nvSpPr>
          <p:cNvPr id="114" name="Google Shape;114;p16"/>
          <p:cNvSpPr/>
          <p:nvPr/>
        </p:nvSpPr>
        <p:spPr>
          <a:xfrm>
            <a:off x="634380" y="4003104"/>
            <a:ext cx="3737372" cy="5953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950"/>
              <a:buFont typeface="Roboto"/>
              <a:buNone/>
            </a:pPr>
            <a:r>
              <a:rPr b="0" i="0" lang="en-US" sz="9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Exibe todos os modelos instalados na sua máquina, com informações sobre nome, tamanho e data de modificação. Útil para gerenciar o espaço em disco.</a:t>
            </a:r>
            <a:endParaRPr b="0" i="0" sz="950" u="none" cap="none" strike="noStrike"/>
          </a:p>
        </p:txBody>
      </p:sp>
      <p:sp>
        <p:nvSpPr>
          <p:cNvPr id="115" name="Google Shape;115;p16"/>
          <p:cNvSpPr/>
          <p:nvPr/>
        </p:nvSpPr>
        <p:spPr>
          <a:xfrm>
            <a:off x="4633987" y="3224510"/>
            <a:ext cx="4013895" cy="1512243"/>
          </a:xfrm>
          <a:prstGeom prst="roundRect">
            <a:avLst>
              <a:gd fmla="val 3445" name="adj"/>
            </a:avLst>
          </a:prstGeom>
          <a:solidFill>
            <a:srgbClr val="FFFFFF">
              <a:alpha val="94901"/>
            </a:srgbClr>
          </a:solidFill>
          <a:ln cap="flat" cmpd="sng" w="14275">
            <a:solidFill>
              <a:srgbClr val="C7C7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16"/>
          <p:cNvSpPr/>
          <p:nvPr/>
        </p:nvSpPr>
        <p:spPr>
          <a:xfrm>
            <a:off x="4648274" y="3238798"/>
            <a:ext cx="3985320" cy="372070"/>
          </a:xfrm>
          <a:prstGeom prst="roundRect">
            <a:avLst>
              <a:gd fmla="val 9395" name="adj"/>
            </a:avLst>
          </a:prstGeom>
          <a:solidFill>
            <a:srgbClr val="E1E1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16"/>
          <p:cNvSpPr/>
          <p:nvPr/>
        </p:nvSpPr>
        <p:spPr>
          <a:xfrm>
            <a:off x="6547917" y="3306142"/>
            <a:ext cx="186035" cy="2325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450"/>
              <a:buFont typeface="Raleway"/>
              <a:buNone/>
            </a:pPr>
            <a:r>
              <a:rPr b="0" i="0" lang="en-US" sz="145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4</a:t>
            </a:r>
            <a:endParaRPr b="0" i="0" sz="1450" u="none" cap="none" strike="noStrike"/>
          </a:p>
        </p:txBody>
      </p:sp>
      <p:sp>
        <p:nvSpPr>
          <p:cNvPr id="118" name="Google Shape;118;p16"/>
          <p:cNvSpPr/>
          <p:nvPr/>
        </p:nvSpPr>
        <p:spPr>
          <a:xfrm>
            <a:off x="4772248" y="3734842"/>
            <a:ext cx="1550566" cy="193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200"/>
              <a:buFont typeface="Raleway"/>
              <a:buNone/>
            </a:pPr>
            <a:r>
              <a:rPr b="0" i="0" lang="en-US" sz="120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ollama ps</a:t>
            </a:r>
            <a:endParaRPr b="0" i="0" sz="1200" u="none" cap="none" strike="noStrike"/>
          </a:p>
        </p:txBody>
      </p:sp>
      <p:sp>
        <p:nvSpPr>
          <p:cNvPr id="119" name="Google Shape;119;p16"/>
          <p:cNvSpPr/>
          <p:nvPr/>
        </p:nvSpPr>
        <p:spPr>
          <a:xfrm>
            <a:off x="4772248" y="4003104"/>
            <a:ext cx="3737372" cy="5953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950"/>
              <a:buFont typeface="Roboto"/>
              <a:buNone/>
            </a:pPr>
            <a:r>
              <a:rPr b="0" i="0" lang="en-US" sz="9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Mostra quais modelos estão atualmente em execução e o consumo de recursos (RAM/GPU). Permite monitorar e encerrar processos ativos.</a:t>
            </a:r>
            <a:endParaRPr b="0" i="0" sz="950" u="none" cap="none" strike="noStrike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7"/>
          <p:cNvSpPr/>
          <p:nvPr/>
        </p:nvSpPr>
        <p:spPr>
          <a:xfrm>
            <a:off x="1362298" y="232395"/>
            <a:ext cx="3567708" cy="2543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1600"/>
              <a:buFont typeface="Raleway"/>
              <a:buNone/>
            </a:pPr>
            <a:r>
              <a:rPr b="0" i="0" lang="en-US" sz="1600" u="none" cap="none" strike="noStrike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Exemplo Prático: Interação Direta</a:t>
            </a:r>
            <a:endParaRPr b="0" i="0" sz="1600" u="none" cap="none" strike="noStrike"/>
          </a:p>
        </p:txBody>
      </p:sp>
      <p:sp>
        <p:nvSpPr>
          <p:cNvPr id="126" name="Google Shape;126;p17"/>
          <p:cNvSpPr/>
          <p:nvPr/>
        </p:nvSpPr>
        <p:spPr>
          <a:xfrm>
            <a:off x="1362298" y="593527"/>
            <a:ext cx="6876604" cy="1078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600"/>
              <a:buFont typeface="Roboto"/>
              <a:buNone/>
            </a:pPr>
            <a:r>
              <a:rPr b="0" i="0" lang="en-US" sz="60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Veja como é simples começar a usar o Ollama. Em menos de um minuto, você está tendo uma conversa real com um modelo de IA rodando localmente.</a:t>
            </a:r>
            <a:endParaRPr b="0" i="0" sz="600" u="none" cap="none" strike="noStrike"/>
          </a:p>
        </p:txBody>
      </p:sp>
      <p:pic>
        <p:nvPicPr>
          <p:cNvPr descr="preencoded.png" id="127" name="Google Shape;127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62298" y="761405"/>
            <a:ext cx="6419404" cy="2817912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7"/>
          <p:cNvSpPr/>
          <p:nvPr/>
        </p:nvSpPr>
        <p:spPr>
          <a:xfrm>
            <a:off x="2222697" y="2804286"/>
            <a:ext cx="1353848" cy="17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1050"/>
              <a:buFont typeface="Raleway"/>
              <a:buNone/>
            </a:pPr>
            <a:r>
              <a:rPr b="0" i="0" lang="en-US" sz="1050" u="none" cap="none" strike="noStrike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Iniciar</a:t>
            </a:r>
            <a:endParaRPr b="0" i="0" sz="1050" u="none" cap="none" strike="noStrike"/>
          </a:p>
        </p:txBody>
      </p:sp>
      <p:sp>
        <p:nvSpPr>
          <p:cNvPr id="129" name="Google Shape;129;p17"/>
          <p:cNvSpPr/>
          <p:nvPr/>
        </p:nvSpPr>
        <p:spPr>
          <a:xfrm>
            <a:off x="2451297" y="3027635"/>
            <a:ext cx="1125248" cy="242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850"/>
              <a:buFont typeface="Roboto"/>
              <a:buNone/>
            </a:pPr>
            <a:r>
              <a:rPr b="0" i="0" lang="en-US" sz="8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Execute: ollama run llama3.2</a:t>
            </a:r>
            <a:endParaRPr b="0" i="0" sz="850" u="none" cap="none" strike="noStrike"/>
          </a:p>
        </p:txBody>
      </p:sp>
      <p:sp>
        <p:nvSpPr>
          <p:cNvPr id="130" name="Google Shape;130;p17"/>
          <p:cNvSpPr/>
          <p:nvPr/>
        </p:nvSpPr>
        <p:spPr>
          <a:xfrm>
            <a:off x="2788640" y="3009087"/>
            <a:ext cx="763175" cy="26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5550" wrap="square" tIns="5550">
            <a:noAutofit/>
          </a:bodyPr>
          <a:lstStyle/>
          <a:p>
            <a:pPr indent="0" lvl="0" marL="0" marR="0" rtl="0" algn="ctr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3C3939"/>
                </a:solidFill>
                <a:latin typeface="Consolas"/>
                <a:ea typeface="Consolas"/>
                <a:cs typeface="Consolas"/>
                <a:sym typeface="Consolas"/>
              </a:rPr>
              <a:t>ollama run llama3.2</a:t>
            </a:r>
            <a:endParaRPr b="0" i="0" sz="850" u="none" cap="none" strike="noStrike"/>
          </a:p>
        </p:txBody>
      </p:sp>
      <p:sp>
        <p:nvSpPr>
          <p:cNvPr id="131" name="Google Shape;131;p17"/>
          <p:cNvSpPr/>
          <p:nvPr/>
        </p:nvSpPr>
        <p:spPr>
          <a:xfrm>
            <a:off x="5382048" y="2767190"/>
            <a:ext cx="1353849" cy="17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1050"/>
              <a:buFont typeface="Raleway"/>
              <a:buNone/>
            </a:pPr>
            <a:r>
              <a:rPr b="0" i="0" lang="en-US" sz="1050" u="none" cap="none" strike="noStrike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Encerrar</a:t>
            </a:r>
            <a:endParaRPr b="0" i="0" sz="1050" u="none" cap="none" strike="noStrike"/>
          </a:p>
        </p:txBody>
      </p:sp>
      <p:sp>
        <p:nvSpPr>
          <p:cNvPr id="132" name="Google Shape;132;p17"/>
          <p:cNvSpPr/>
          <p:nvPr/>
        </p:nvSpPr>
        <p:spPr>
          <a:xfrm>
            <a:off x="5610648" y="2990539"/>
            <a:ext cx="1125249" cy="236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850"/>
              <a:buFont typeface="Roboto"/>
              <a:buNone/>
            </a:pPr>
            <a:r>
              <a:rPr b="0" i="0" lang="en-US" sz="8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Digite o comando: /bye</a:t>
            </a:r>
            <a:endParaRPr b="0" i="0" sz="850" u="none" cap="none" strike="noStrike"/>
          </a:p>
        </p:txBody>
      </p:sp>
      <p:sp>
        <p:nvSpPr>
          <p:cNvPr id="133" name="Google Shape;133;p17"/>
          <p:cNvSpPr/>
          <p:nvPr/>
        </p:nvSpPr>
        <p:spPr>
          <a:xfrm>
            <a:off x="5825560" y="3087144"/>
            <a:ext cx="466827" cy="1483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5550" wrap="square" tIns="5550">
            <a:noAutofit/>
          </a:bodyPr>
          <a:lstStyle/>
          <a:p>
            <a:pPr indent="0" lvl="0" marL="0" marR="0" rtl="0" algn="ctr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3C3939"/>
                </a:solidFill>
                <a:latin typeface="Consolas"/>
                <a:ea typeface="Consolas"/>
                <a:cs typeface="Consolas"/>
                <a:sym typeface="Consolas"/>
              </a:rPr>
              <a:t>/bye</a:t>
            </a:r>
            <a:endParaRPr b="0" i="0" sz="850" u="none" cap="none" strike="noStrike"/>
          </a:p>
        </p:txBody>
      </p:sp>
      <p:sp>
        <p:nvSpPr>
          <p:cNvPr id="134" name="Google Shape;134;p17"/>
          <p:cNvSpPr/>
          <p:nvPr/>
        </p:nvSpPr>
        <p:spPr>
          <a:xfrm>
            <a:off x="3811647" y="1056905"/>
            <a:ext cx="1353848" cy="17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1050"/>
              <a:buFont typeface="Raleway"/>
              <a:buNone/>
            </a:pPr>
            <a:r>
              <a:rPr b="0" i="0" lang="en-US" sz="1050" u="none" cap="none" strike="noStrike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Perguntar</a:t>
            </a:r>
            <a:endParaRPr b="0" i="0" sz="1050" u="none" cap="none" strike="noStrike"/>
          </a:p>
        </p:txBody>
      </p:sp>
      <p:sp>
        <p:nvSpPr>
          <p:cNvPr id="135" name="Google Shape;135;p17"/>
          <p:cNvSpPr/>
          <p:nvPr/>
        </p:nvSpPr>
        <p:spPr>
          <a:xfrm>
            <a:off x="4040247" y="1280254"/>
            <a:ext cx="1125248" cy="3454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850"/>
              <a:buFont typeface="Roboto"/>
              <a:buNone/>
            </a:pPr>
            <a:r>
              <a:rPr b="0" i="0" lang="en-US" sz="8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Ex.: "Explique como funciona o machine learning"</a:t>
            </a:r>
            <a:endParaRPr b="0" i="0" sz="850" u="none" cap="none" strike="noStrike"/>
          </a:p>
        </p:txBody>
      </p:sp>
      <p:sp>
        <p:nvSpPr>
          <p:cNvPr id="136" name="Google Shape;136;p17"/>
          <p:cNvSpPr/>
          <p:nvPr/>
        </p:nvSpPr>
        <p:spPr>
          <a:xfrm>
            <a:off x="1362298" y="3639369"/>
            <a:ext cx="6419404" cy="2156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600"/>
              <a:buFont typeface="Roboto"/>
              <a:buNone/>
            </a:pPr>
            <a:r>
              <a:rPr b="0" i="0" lang="en-US" sz="60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Esses três passos simples demonstram a facilidade de uso do Ollama: baixe o modelo, faça sua pergunta e encerre a sessão quando terminar. A experiência é tão fluida quanto usar qualquer chatbot baseado em nuvem, mas com total privacidade.</a:t>
            </a:r>
            <a:endParaRPr b="0" i="0" sz="600" u="none" cap="none" strike="noStrike"/>
          </a:p>
        </p:txBody>
      </p:sp>
      <p:sp>
        <p:nvSpPr>
          <p:cNvPr id="137" name="Google Shape;137;p17"/>
          <p:cNvSpPr/>
          <p:nvPr/>
        </p:nvSpPr>
        <p:spPr>
          <a:xfrm>
            <a:off x="1362298" y="3968428"/>
            <a:ext cx="1474738" cy="1270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Raleway"/>
              <a:buNone/>
            </a:pPr>
            <a:r>
              <a:rPr b="0" i="0" lang="en-US" sz="800" u="none" cap="none" strike="noStrik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💡</a:t>
            </a:r>
            <a:r>
              <a:rPr b="0" i="0" lang="en-US" sz="800" u="none" cap="none" strike="noStrike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 Dica Prática</a:t>
            </a:r>
            <a:endParaRPr b="0" i="0" sz="800" u="none" cap="none" strike="noStrike"/>
          </a:p>
        </p:txBody>
      </p:sp>
      <p:sp>
        <p:nvSpPr>
          <p:cNvPr id="138" name="Google Shape;138;p17"/>
          <p:cNvSpPr/>
          <p:nvPr/>
        </p:nvSpPr>
        <p:spPr>
          <a:xfrm>
            <a:off x="1362298" y="4148882"/>
            <a:ext cx="3110433" cy="2156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600"/>
              <a:buFont typeface="Roboto"/>
              <a:buNone/>
            </a:pPr>
            <a:r>
              <a:rPr b="0" i="0" lang="en-US" sz="60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Você pode passar um prompt diretamente na linha de comando sem entrar no modo interativo:</a:t>
            </a:r>
            <a:endParaRPr b="0" i="0" sz="600" u="none" cap="none" strike="noStrike"/>
          </a:p>
        </p:txBody>
      </p:sp>
      <p:sp>
        <p:nvSpPr>
          <p:cNvPr id="139" name="Google Shape;139;p17"/>
          <p:cNvSpPr/>
          <p:nvPr/>
        </p:nvSpPr>
        <p:spPr>
          <a:xfrm>
            <a:off x="1362298" y="4424586"/>
            <a:ext cx="3110433" cy="270495"/>
          </a:xfrm>
          <a:prstGeom prst="roundRect">
            <a:avLst>
              <a:gd fmla="val 12640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17"/>
          <p:cNvSpPr/>
          <p:nvPr/>
        </p:nvSpPr>
        <p:spPr>
          <a:xfrm>
            <a:off x="1358280" y="4424586"/>
            <a:ext cx="3118470" cy="270495"/>
          </a:xfrm>
          <a:prstGeom prst="roundRect">
            <a:avLst>
              <a:gd fmla="val 4514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17"/>
          <p:cNvSpPr/>
          <p:nvPr/>
        </p:nvSpPr>
        <p:spPr>
          <a:xfrm>
            <a:off x="1460004" y="4505920"/>
            <a:ext cx="3372222" cy="1078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600"/>
              <a:buFont typeface="Consolas"/>
              <a:buNone/>
            </a:pPr>
            <a:r>
              <a:rPr b="0" i="0" lang="en-US" sz="600" u="none" cap="none" strike="noStrike">
                <a:solidFill>
                  <a:srgbClr val="3C3939"/>
                </a:solidFill>
                <a:latin typeface="Consolas"/>
                <a:ea typeface="Consolas"/>
                <a:cs typeface="Consolas"/>
                <a:sym typeface="Consolas"/>
              </a:rPr>
              <a:t>ollama run llama3.2 "Resuma este texto em 3 frases"</a:t>
            </a:r>
            <a:endParaRPr b="0" i="0" sz="600" u="none" cap="none" strike="noStrike"/>
          </a:p>
        </p:txBody>
      </p:sp>
      <p:sp>
        <p:nvSpPr>
          <p:cNvPr id="142" name="Google Shape;142;p17"/>
          <p:cNvSpPr/>
          <p:nvPr/>
        </p:nvSpPr>
        <p:spPr>
          <a:xfrm>
            <a:off x="1362298" y="4755133"/>
            <a:ext cx="3567633" cy="1078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600"/>
              <a:buFont typeface="Roboto"/>
              <a:buNone/>
            </a:pPr>
            <a:r>
              <a:rPr b="0" i="0" lang="en-US" sz="60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Isso é ideal para automação e scripts.</a:t>
            </a:r>
            <a:endParaRPr b="0" i="0" sz="600" u="none" cap="none" strike="noStrike"/>
          </a:p>
        </p:txBody>
      </p:sp>
      <p:sp>
        <p:nvSpPr>
          <p:cNvPr id="143" name="Google Shape;143;p17"/>
          <p:cNvSpPr/>
          <p:nvPr/>
        </p:nvSpPr>
        <p:spPr>
          <a:xfrm>
            <a:off x="4676031" y="3968428"/>
            <a:ext cx="1517079" cy="1270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Raleway"/>
              <a:buNone/>
            </a:pPr>
            <a:r>
              <a:rPr b="0" i="0" lang="en-US" sz="800" u="none" cap="none" strike="noStrik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📦</a:t>
            </a:r>
            <a:r>
              <a:rPr b="0" i="0" lang="en-US" sz="800" u="none" cap="none" strike="noStrike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 Modelos Populares</a:t>
            </a:r>
            <a:endParaRPr b="0" i="0" sz="800" u="none" cap="none" strike="noStrike"/>
          </a:p>
        </p:txBody>
      </p:sp>
      <p:sp>
        <p:nvSpPr>
          <p:cNvPr id="144" name="Google Shape;144;p17"/>
          <p:cNvSpPr/>
          <p:nvPr/>
        </p:nvSpPr>
        <p:spPr>
          <a:xfrm>
            <a:off x="4676031" y="4148882"/>
            <a:ext cx="3110433" cy="4873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600"/>
              <a:buFont typeface="Roboto"/>
              <a:buChar char="•"/>
            </a:pPr>
            <a:r>
              <a:rPr b="1" i="0" lang="en-US" sz="60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llama3.2</a:t>
            </a:r>
            <a:r>
              <a:rPr b="0" i="0" lang="en-US" sz="60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— Versátil e eficiente</a:t>
            </a:r>
            <a:endParaRPr b="0" i="0" sz="600" u="none" cap="none" strike="noStrike"/>
          </a:p>
          <a:p>
            <a:pPr indent="-342900" lvl="0" marL="3429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600"/>
              <a:buFont typeface="Roboto"/>
              <a:buChar char="•"/>
            </a:pPr>
            <a:r>
              <a:rPr b="1" i="0" lang="en-US" sz="60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mistral</a:t>
            </a:r>
            <a:r>
              <a:rPr b="0" i="0" lang="en-US" sz="60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— Rápido e preciso</a:t>
            </a:r>
            <a:endParaRPr b="0" i="0" sz="600" u="none" cap="none" strike="noStrike"/>
          </a:p>
          <a:p>
            <a:pPr indent="-342900" lvl="0" marL="3429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600"/>
              <a:buFont typeface="Roboto"/>
              <a:buChar char="•"/>
            </a:pPr>
            <a:r>
              <a:rPr b="1" i="0" lang="en-US" sz="60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gemma2</a:t>
            </a:r>
            <a:r>
              <a:rPr b="0" i="0" lang="en-US" sz="60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— Leve e poderoso</a:t>
            </a:r>
            <a:endParaRPr b="0" i="0" sz="600" u="none" cap="none" strike="noStrike"/>
          </a:p>
          <a:p>
            <a:pPr indent="-342900" lvl="0" marL="3429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600"/>
              <a:buFont typeface="Roboto"/>
              <a:buChar char="•"/>
            </a:pPr>
            <a:r>
              <a:rPr b="1" i="0" lang="en-US" sz="60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phi3</a:t>
            </a:r>
            <a:r>
              <a:rPr b="0" i="0" lang="en-US" sz="60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— Compacto para hardware limitado</a:t>
            </a:r>
            <a:endParaRPr b="0" i="0" sz="600" u="none" cap="none" strike="noStrike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8"/>
          <p:cNvSpPr/>
          <p:nvPr/>
        </p:nvSpPr>
        <p:spPr>
          <a:xfrm>
            <a:off x="0" y="0"/>
            <a:ext cx="3429000" cy="5143500"/>
          </a:xfrm>
          <a:prstGeom prst="rect">
            <a:avLst/>
          </a:prstGeom>
          <a:solidFill>
            <a:srgbClr val="E1E1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51" name="Google Shape;151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987" y="92943"/>
            <a:ext cx="3305026" cy="4957539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8"/>
          <p:cNvSpPr/>
          <p:nvPr/>
        </p:nvSpPr>
        <p:spPr>
          <a:xfrm>
            <a:off x="3925119" y="1546920"/>
            <a:ext cx="4722763" cy="10697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3350"/>
              <a:buFont typeface="Raleway"/>
              <a:buNone/>
            </a:pPr>
            <a:r>
              <a:rPr b="0" i="0" lang="en-US" sz="3350" u="none" cap="none" strike="noStrike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IA sem filtros e sem limites</a:t>
            </a:r>
            <a:endParaRPr b="0" i="0" sz="3350" u="none" cap="none" strike="noStrike"/>
          </a:p>
        </p:txBody>
      </p:sp>
      <p:sp>
        <p:nvSpPr>
          <p:cNvPr id="153" name="Google Shape;153;p18"/>
          <p:cNvSpPr/>
          <p:nvPr/>
        </p:nvSpPr>
        <p:spPr>
          <a:xfrm>
            <a:off x="3925119" y="2802731"/>
            <a:ext cx="4722763" cy="793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950"/>
              <a:buFont typeface="Roboto"/>
              <a:buNone/>
            </a:pPr>
            <a:r>
              <a:rPr b="0" i="0" lang="en-US" sz="9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Com o Ollama, você tem uma conversa fluida e natural com modelos de linguagem de última geração — diretamente no seu terminal, sem intermediários, sem censura corporativa e sem custos recorrentes. A inteligência artificial finalmente nas suas mãos.</a:t>
            </a:r>
            <a:endParaRPr b="0" i="0" sz="950" u="none" cap="none" strike="noStrike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9"/>
          <p:cNvSpPr/>
          <p:nvPr/>
        </p:nvSpPr>
        <p:spPr>
          <a:xfrm>
            <a:off x="496119" y="388144"/>
            <a:ext cx="4914677" cy="3875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2400"/>
              <a:buFont typeface="Raleway"/>
              <a:buNone/>
            </a:pPr>
            <a:r>
              <a:rPr b="0" i="0" lang="en-US" sz="2400" u="none" cap="none" strike="noStrike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Personalização com Modelfiles</a:t>
            </a:r>
            <a:endParaRPr b="0" i="0" sz="2400" u="none" cap="none" strike="noStrike"/>
          </a:p>
        </p:txBody>
      </p:sp>
      <p:sp>
        <p:nvSpPr>
          <p:cNvPr id="160" name="Google Shape;160;p19"/>
          <p:cNvSpPr/>
          <p:nvPr/>
        </p:nvSpPr>
        <p:spPr>
          <a:xfrm>
            <a:off x="496119" y="1023714"/>
            <a:ext cx="8151763" cy="396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950"/>
              <a:buFont typeface="Roboto"/>
              <a:buNone/>
            </a:pPr>
            <a:r>
              <a:rPr b="0" i="0" lang="en-US" sz="9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O Ollama vai além do uso padrão: você pode criar modelos customizados com comportamentos específicos para suas necessidades, definindo prompts de sistema, parâmetros de temperatura e muito mais.</a:t>
            </a:r>
            <a:endParaRPr b="0" i="0" sz="950" u="none" cap="none" strike="noStrike"/>
          </a:p>
        </p:txBody>
      </p:sp>
      <p:sp>
        <p:nvSpPr>
          <p:cNvPr id="161" name="Google Shape;161;p19"/>
          <p:cNvSpPr/>
          <p:nvPr/>
        </p:nvSpPr>
        <p:spPr>
          <a:xfrm>
            <a:off x="496119" y="1684139"/>
            <a:ext cx="2081957" cy="193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1200"/>
              <a:buFont typeface="Raleway"/>
              <a:buNone/>
            </a:pPr>
            <a:r>
              <a:rPr b="0" i="0" lang="en-US" sz="1200" u="none" cap="none" strike="noStrike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O que é um Modelfile?</a:t>
            </a:r>
            <a:endParaRPr b="0" i="0" sz="1200" u="none" cap="none" strike="noStrike"/>
          </a:p>
        </p:txBody>
      </p:sp>
      <p:sp>
        <p:nvSpPr>
          <p:cNvPr id="162" name="Google Shape;162;p19"/>
          <p:cNvSpPr/>
          <p:nvPr/>
        </p:nvSpPr>
        <p:spPr>
          <a:xfrm>
            <a:off x="496119" y="2001962"/>
            <a:ext cx="3924598" cy="793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950"/>
              <a:buFont typeface="Roboto"/>
              <a:buNone/>
            </a:pPr>
            <a:r>
              <a:rPr b="0" i="0" lang="en-US" sz="9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Um Modelfile é um arquivo de configuração que define como um modelo deve se comportar. Nele, você especifica o modelo base, o prompt de sistema, parâmetros como temperatura e contexto, e até formatações de resposta.</a:t>
            </a:r>
            <a:endParaRPr b="0" i="0" sz="950" u="none" cap="none" strike="noStrike"/>
          </a:p>
        </p:txBody>
      </p:sp>
      <p:sp>
        <p:nvSpPr>
          <p:cNvPr id="163" name="Google Shape;163;p19"/>
          <p:cNvSpPr/>
          <p:nvPr/>
        </p:nvSpPr>
        <p:spPr>
          <a:xfrm>
            <a:off x="496119" y="2935337"/>
            <a:ext cx="3924598" cy="1240259"/>
          </a:xfrm>
          <a:prstGeom prst="roundRect">
            <a:avLst>
              <a:gd fmla="val 4201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19"/>
          <p:cNvSpPr/>
          <p:nvPr/>
        </p:nvSpPr>
        <p:spPr>
          <a:xfrm>
            <a:off x="489942" y="2935337"/>
            <a:ext cx="3936950" cy="1240259"/>
          </a:xfrm>
          <a:prstGeom prst="roundRect">
            <a:avLst>
              <a:gd fmla="val 1500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19"/>
          <p:cNvSpPr/>
          <p:nvPr/>
        </p:nvSpPr>
        <p:spPr>
          <a:xfrm>
            <a:off x="644947" y="3059311"/>
            <a:ext cx="3626941" cy="992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D73A49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FROM llama3.2</a:t>
            </a:r>
            <a:endParaRPr b="0" i="0" sz="950" u="none" cap="none" strike="noStrike"/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D73A49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SYSTEM "Você é um assistente técnico especializado em Python."</a:t>
            </a:r>
            <a:endParaRPr b="0" i="0" sz="950" u="none" cap="none" strike="noStrike"/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D73A49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PARAMETER temperature 0.7</a:t>
            </a:r>
            <a:endParaRPr b="0" i="0" sz="950" u="none" cap="none" strike="noStrike"/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D73A49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PARAMETER top_p 0.9</a:t>
            </a:r>
            <a:endParaRPr b="0" i="0" sz="950" u="none" cap="none" strike="noStrike"/>
          </a:p>
        </p:txBody>
      </p:sp>
      <p:sp>
        <p:nvSpPr>
          <p:cNvPr id="166" name="Google Shape;166;p19"/>
          <p:cNvSpPr/>
          <p:nvPr/>
        </p:nvSpPr>
        <p:spPr>
          <a:xfrm>
            <a:off x="4638749" y="1560165"/>
            <a:ext cx="4103191" cy="3195117"/>
          </a:xfrm>
          <a:prstGeom prst="roundRect">
            <a:avLst>
              <a:gd fmla="val 2795" name="adj"/>
            </a:avLst>
          </a:prstGeom>
          <a:solidFill>
            <a:srgbClr val="1B1B27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19"/>
          <p:cNvSpPr/>
          <p:nvPr/>
        </p:nvSpPr>
        <p:spPr>
          <a:xfrm>
            <a:off x="4762723" y="1684139"/>
            <a:ext cx="2007766" cy="193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aleway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Criando seu Modelo</a:t>
            </a:r>
            <a:endParaRPr b="0" i="0" sz="1200" u="none" cap="none" strike="noStrike"/>
          </a:p>
        </p:txBody>
      </p:sp>
      <p:sp>
        <p:nvSpPr>
          <p:cNvPr id="168" name="Google Shape;168;p19"/>
          <p:cNvSpPr/>
          <p:nvPr/>
        </p:nvSpPr>
        <p:spPr>
          <a:xfrm>
            <a:off x="4762723" y="2001962"/>
            <a:ext cx="3855244" cy="396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Roboto"/>
              <a:buNone/>
            </a:pPr>
            <a:r>
              <a:rPr b="0" i="0" lang="en-US" sz="9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Com o Modelfile pronto, crie seu modelo personalizado com um comando:</a:t>
            </a:r>
            <a:endParaRPr b="0" i="0" sz="950" u="none" cap="none" strike="noStrike"/>
          </a:p>
        </p:txBody>
      </p:sp>
      <p:sp>
        <p:nvSpPr>
          <p:cNvPr id="169" name="Google Shape;169;p19"/>
          <p:cNvSpPr/>
          <p:nvPr/>
        </p:nvSpPr>
        <p:spPr>
          <a:xfrm>
            <a:off x="4762723" y="2538413"/>
            <a:ext cx="3855244" cy="446410"/>
          </a:xfrm>
          <a:prstGeom prst="roundRect">
            <a:avLst>
              <a:gd fmla="val 11671" name="adj"/>
            </a:avLst>
          </a:prstGeom>
          <a:solidFill>
            <a:srgbClr val="28283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19"/>
          <p:cNvSpPr/>
          <p:nvPr/>
        </p:nvSpPr>
        <p:spPr>
          <a:xfrm>
            <a:off x="4756547" y="2538413"/>
            <a:ext cx="3867596" cy="446410"/>
          </a:xfrm>
          <a:prstGeom prst="roundRect">
            <a:avLst>
              <a:gd fmla="val 4168" name="adj"/>
            </a:avLst>
          </a:prstGeom>
          <a:solidFill>
            <a:srgbClr val="28283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19"/>
          <p:cNvSpPr/>
          <p:nvPr/>
        </p:nvSpPr>
        <p:spPr>
          <a:xfrm>
            <a:off x="4911551" y="2662386"/>
            <a:ext cx="4014788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ollama create meu-assistente -f Modelfile</a:t>
            </a:r>
            <a:endParaRPr b="0" i="0" sz="950" u="none" cap="none" strike="noStrike"/>
          </a:p>
        </p:txBody>
      </p:sp>
      <p:sp>
        <p:nvSpPr>
          <p:cNvPr id="172" name="Google Shape;172;p19"/>
          <p:cNvSpPr/>
          <p:nvPr/>
        </p:nvSpPr>
        <p:spPr>
          <a:xfrm>
            <a:off x="4762723" y="3124349"/>
            <a:ext cx="4312444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Roboto"/>
              <a:buNone/>
            </a:pPr>
            <a:r>
              <a:rPr b="0" i="0" lang="en-US" sz="9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Agora execute normalmente:</a:t>
            </a:r>
            <a:endParaRPr b="0" i="0" sz="950" u="none" cap="none" strike="noStrike"/>
          </a:p>
        </p:txBody>
      </p:sp>
      <p:sp>
        <p:nvSpPr>
          <p:cNvPr id="173" name="Google Shape;173;p19"/>
          <p:cNvSpPr/>
          <p:nvPr/>
        </p:nvSpPr>
        <p:spPr>
          <a:xfrm>
            <a:off x="4762723" y="3462337"/>
            <a:ext cx="3855244" cy="446410"/>
          </a:xfrm>
          <a:prstGeom prst="roundRect">
            <a:avLst>
              <a:gd fmla="val 11671" name="adj"/>
            </a:avLst>
          </a:prstGeom>
          <a:solidFill>
            <a:srgbClr val="28283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19"/>
          <p:cNvSpPr/>
          <p:nvPr/>
        </p:nvSpPr>
        <p:spPr>
          <a:xfrm>
            <a:off x="4756547" y="3462337"/>
            <a:ext cx="3867596" cy="446410"/>
          </a:xfrm>
          <a:prstGeom prst="roundRect">
            <a:avLst>
              <a:gd fmla="val 4168" name="adj"/>
            </a:avLst>
          </a:prstGeom>
          <a:solidFill>
            <a:srgbClr val="28283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19"/>
          <p:cNvSpPr/>
          <p:nvPr/>
        </p:nvSpPr>
        <p:spPr>
          <a:xfrm>
            <a:off x="4911551" y="3586311"/>
            <a:ext cx="4014788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FFFFFF"/>
                </a:solidFill>
                <a:highlight>
                  <a:srgbClr val="282834"/>
                </a:highlight>
                <a:latin typeface="Consolas"/>
                <a:ea typeface="Consolas"/>
                <a:cs typeface="Consolas"/>
                <a:sym typeface="Consolas"/>
              </a:rPr>
              <a:t>ollama run meu-assistente</a:t>
            </a:r>
            <a:endParaRPr b="0" i="0" sz="950" u="none" cap="none" strike="noStrike"/>
          </a:p>
        </p:txBody>
      </p:sp>
      <p:sp>
        <p:nvSpPr>
          <p:cNvPr id="176" name="Google Shape;176;p19"/>
          <p:cNvSpPr/>
          <p:nvPr/>
        </p:nvSpPr>
        <p:spPr>
          <a:xfrm>
            <a:off x="4762723" y="4048274"/>
            <a:ext cx="3855244" cy="5953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Roboto"/>
              <a:buNone/>
            </a:pPr>
            <a:r>
              <a:rPr b="0" i="0" lang="en-US" sz="9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Seu modelo terá o comportamento exato que você definiu — ideal para assistentes especializados, bots de suporte e pipelines de automação.</a:t>
            </a:r>
            <a:endParaRPr b="0" i="0" sz="950" u="none" cap="none" strike="noStrike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0"/>
          <p:cNvSpPr/>
          <p:nvPr/>
        </p:nvSpPr>
        <p:spPr>
          <a:xfrm>
            <a:off x="496119" y="1120527"/>
            <a:ext cx="6666384" cy="3875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2400"/>
              <a:buFont typeface="Raleway"/>
              <a:buNone/>
            </a:pPr>
            <a:r>
              <a:rPr b="0" i="0" lang="en-US" sz="2400" u="none" cap="none" strike="noStrike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Por que Desenvolvedores Amam o Ollama?</a:t>
            </a:r>
            <a:endParaRPr b="0" i="0" sz="2400" u="none" cap="none" strike="noStrike"/>
          </a:p>
        </p:txBody>
      </p:sp>
      <p:sp>
        <p:nvSpPr>
          <p:cNvPr id="183" name="Google Shape;183;p20"/>
          <p:cNvSpPr/>
          <p:nvPr/>
        </p:nvSpPr>
        <p:spPr>
          <a:xfrm>
            <a:off x="496119" y="1756097"/>
            <a:ext cx="8151763" cy="396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950"/>
              <a:buFont typeface="Roboto"/>
              <a:buNone/>
            </a:pPr>
            <a:r>
              <a:rPr b="0" i="0" lang="en-US" sz="9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O Ollama se tornou uma ferramenta indispensável no ecossistema de desenvolvimento com IA, integrando-se perfeitamente com as ferramentas mais populares do mercado.</a:t>
            </a:r>
            <a:endParaRPr b="0" i="0" sz="950" u="none" cap="none" strike="noStrike"/>
          </a:p>
        </p:txBody>
      </p:sp>
      <p:pic>
        <p:nvPicPr>
          <p:cNvPr descr="preencoded.png" id="184" name="Google Shape;184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6119" y="2292548"/>
            <a:ext cx="310083" cy="310083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20"/>
          <p:cNvSpPr/>
          <p:nvPr/>
        </p:nvSpPr>
        <p:spPr>
          <a:xfrm>
            <a:off x="496119" y="2757636"/>
            <a:ext cx="1930152" cy="193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200"/>
              <a:buFont typeface="Raleway"/>
              <a:buNone/>
            </a:pPr>
            <a:r>
              <a:rPr b="0" i="0" lang="en-US" sz="120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Integração com LangChain</a:t>
            </a:r>
            <a:endParaRPr b="0" i="0" sz="1200" u="none" cap="none" strike="noStrike"/>
          </a:p>
        </p:txBody>
      </p:sp>
      <p:sp>
        <p:nvSpPr>
          <p:cNvPr id="186" name="Google Shape;186;p20"/>
          <p:cNvSpPr/>
          <p:nvPr/>
        </p:nvSpPr>
        <p:spPr>
          <a:xfrm>
            <a:off x="496119" y="3025899"/>
            <a:ext cx="2613868" cy="992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950"/>
              <a:buFont typeface="Roboto"/>
              <a:buNone/>
            </a:pPr>
            <a:r>
              <a:rPr b="0" i="0" lang="en-US" sz="9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O Ollama se conecta nativamente ao </a:t>
            </a:r>
            <a:r>
              <a:rPr b="1" i="0" lang="en-US" sz="9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LangChain</a:t>
            </a:r>
            <a:r>
              <a:rPr b="0" i="0" lang="en-US" sz="9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e a outras bibliotecas de orquestração de LLMs, permitindo construir pipelines complexos de IA com agentes, memória e ferramentas externas.</a:t>
            </a:r>
            <a:endParaRPr b="0" i="0" sz="950" u="none" cap="none" strike="noStrike"/>
          </a:p>
        </p:txBody>
      </p:sp>
      <p:pic>
        <p:nvPicPr>
          <p:cNvPr descr="preencoded.png" id="187" name="Google Shape;187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64991" y="2292548"/>
            <a:ext cx="310083" cy="310083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20"/>
          <p:cNvSpPr/>
          <p:nvPr/>
        </p:nvSpPr>
        <p:spPr>
          <a:xfrm>
            <a:off x="3264991" y="2757636"/>
            <a:ext cx="1590973" cy="193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200"/>
              <a:buFont typeface="Raleway"/>
              <a:buNone/>
            </a:pPr>
            <a:r>
              <a:rPr b="0" i="0" lang="en-US" sz="120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Automação via Scripts</a:t>
            </a:r>
            <a:endParaRPr b="0" i="0" sz="1200" u="none" cap="none" strike="noStrike"/>
          </a:p>
        </p:txBody>
      </p:sp>
      <p:sp>
        <p:nvSpPr>
          <p:cNvPr id="189" name="Google Shape;189;p20"/>
          <p:cNvSpPr/>
          <p:nvPr/>
        </p:nvSpPr>
        <p:spPr>
          <a:xfrm>
            <a:off x="3264991" y="3025899"/>
            <a:ext cx="2613943" cy="9970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950"/>
              <a:buFont typeface="Roboto"/>
              <a:buNone/>
            </a:pPr>
            <a:r>
              <a:rPr b="0" i="0" lang="en-US" sz="9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Com a API REST em </a:t>
            </a:r>
            <a:r>
              <a:rPr b="0" i="0" lang="en-US" sz="950" u="none" cap="none" strike="noStrike">
                <a:solidFill>
                  <a:srgbClr val="3C3939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localhost:11434</a:t>
            </a:r>
            <a:r>
              <a:rPr b="0" i="0" lang="en-US" sz="9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, você pode automatizar fluxos de trabalho inteiros — desde processamento de documentos até geração de relatórios — usando Python, Node.js ou qualquer linguagem.</a:t>
            </a:r>
            <a:endParaRPr b="0" i="0" sz="950" u="none" cap="none" strike="noStrike"/>
          </a:p>
        </p:txBody>
      </p:sp>
      <p:pic>
        <p:nvPicPr>
          <p:cNvPr descr="preencoded.png" id="190" name="Google Shape;190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33939" y="2292548"/>
            <a:ext cx="310083" cy="310083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20"/>
          <p:cNvSpPr/>
          <p:nvPr/>
        </p:nvSpPr>
        <p:spPr>
          <a:xfrm>
            <a:off x="6033939" y="2757636"/>
            <a:ext cx="1550566" cy="193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200"/>
              <a:buFont typeface="Raleway"/>
              <a:buNone/>
            </a:pPr>
            <a:r>
              <a:rPr b="0" i="0" lang="en-US" sz="120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Zero Custo de API</a:t>
            </a:r>
            <a:endParaRPr b="0" i="0" sz="1200" u="none" cap="none" strike="noStrike"/>
          </a:p>
        </p:txBody>
      </p:sp>
      <p:sp>
        <p:nvSpPr>
          <p:cNvPr id="192" name="Google Shape;192;p20"/>
          <p:cNvSpPr/>
          <p:nvPr/>
        </p:nvSpPr>
        <p:spPr>
          <a:xfrm>
            <a:off x="6033939" y="3025899"/>
            <a:ext cx="2613943" cy="992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950"/>
              <a:buFont typeface="Roboto"/>
              <a:buNone/>
            </a:pPr>
            <a:r>
              <a:rPr b="0" i="0" lang="en-US" sz="9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Experimente, erre, itere e aprenda sem pagar por token. O Ollama elimina a barreira financeira da experimentação, tornando-o ideal para estudos, prototipagem e projetos pessoais.</a:t>
            </a:r>
            <a:endParaRPr b="0" i="0" sz="950" u="none" cap="none" strike="noStrike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1"/>
          <p:cNvSpPr/>
          <p:nvPr/>
        </p:nvSpPr>
        <p:spPr>
          <a:xfrm>
            <a:off x="496119" y="529977"/>
            <a:ext cx="4256410" cy="3875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2400"/>
              <a:buFont typeface="Raleway"/>
              <a:buNone/>
            </a:pPr>
            <a:r>
              <a:rPr b="0" i="0" lang="en-US" sz="2400" u="none" cap="none" strike="noStrike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Otimização e Performance</a:t>
            </a:r>
            <a:endParaRPr b="0" i="0" sz="2400" u="none" cap="none" strike="noStrike"/>
          </a:p>
        </p:txBody>
      </p:sp>
      <p:sp>
        <p:nvSpPr>
          <p:cNvPr id="199" name="Google Shape;199;p21"/>
          <p:cNvSpPr/>
          <p:nvPr/>
        </p:nvSpPr>
        <p:spPr>
          <a:xfrm>
            <a:off x="496119" y="1165547"/>
            <a:ext cx="8151763" cy="396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950"/>
              <a:buFont typeface="Roboto"/>
              <a:buNone/>
            </a:pPr>
            <a:r>
              <a:rPr b="0" i="0" lang="en-US" sz="9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O Ollama é inteligente na gestão de recursos. Ele detecta automaticamente sua GPU e RAM, ajustando o carregamento dos modelos para maximizar a velocidade sem comprometer a estabilidade do sistema.</a:t>
            </a:r>
            <a:endParaRPr b="0" i="0" sz="950" u="none" cap="none" strike="noStrike"/>
          </a:p>
        </p:txBody>
      </p:sp>
      <p:sp>
        <p:nvSpPr>
          <p:cNvPr id="200" name="Google Shape;200;p21"/>
          <p:cNvSpPr/>
          <p:nvPr/>
        </p:nvSpPr>
        <p:spPr>
          <a:xfrm>
            <a:off x="496119" y="1825972"/>
            <a:ext cx="3352577" cy="193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1200"/>
              <a:buFont typeface="Raleway"/>
              <a:buNone/>
            </a:pPr>
            <a:r>
              <a:rPr b="0" i="0" lang="en-US" sz="1200" u="none" cap="none" strike="noStrike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Gerenciamento Automático de Recursos</a:t>
            </a:r>
            <a:endParaRPr b="0" i="0" sz="1200" u="none" cap="none" strike="noStrike"/>
          </a:p>
        </p:txBody>
      </p:sp>
      <p:sp>
        <p:nvSpPr>
          <p:cNvPr id="201" name="Google Shape;201;p21"/>
          <p:cNvSpPr/>
          <p:nvPr/>
        </p:nvSpPr>
        <p:spPr>
          <a:xfrm>
            <a:off x="496119" y="2143795"/>
            <a:ext cx="3924598" cy="793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950"/>
              <a:buFont typeface="Roboto"/>
              <a:buNone/>
            </a:pPr>
            <a:r>
              <a:rPr b="0" i="0" lang="en-US" sz="9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O Ollama decide automaticamente se um modelo deve rodar na CPU ou GPU, dividindo camadas do modelo entre os dois quando necessário. Isso permite rodar modelos grandes mesmo em hardware modesto.</a:t>
            </a:r>
            <a:endParaRPr b="0" i="0" sz="950" u="none" cap="none" strike="noStrike"/>
          </a:p>
        </p:txBody>
      </p:sp>
      <p:sp>
        <p:nvSpPr>
          <p:cNvPr id="202" name="Google Shape;202;p21"/>
          <p:cNvSpPr/>
          <p:nvPr/>
        </p:nvSpPr>
        <p:spPr>
          <a:xfrm>
            <a:off x="496119" y="3061618"/>
            <a:ext cx="2390775" cy="193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1200"/>
              <a:buFont typeface="Raleway"/>
              <a:buNone/>
            </a:pPr>
            <a:r>
              <a:rPr b="0" i="0" lang="en-US" sz="1200" u="none" cap="none" strike="noStrike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Benchmarking de Modelos</a:t>
            </a:r>
            <a:endParaRPr b="0" i="0" sz="1200" u="none" cap="none" strike="noStrike"/>
          </a:p>
        </p:txBody>
      </p:sp>
      <p:sp>
        <p:nvSpPr>
          <p:cNvPr id="203" name="Google Shape;203;p21"/>
          <p:cNvSpPr/>
          <p:nvPr/>
        </p:nvSpPr>
        <p:spPr>
          <a:xfrm>
            <a:off x="496119" y="3379440"/>
            <a:ext cx="3924598" cy="396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950"/>
              <a:buFont typeface="Roboto"/>
              <a:buNone/>
            </a:pPr>
            <a:r>
              <a:rPr b="0" i="0" lang="en-US" sz="9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Teste diferentes tamanhos para encontrar o equilíbrio ideal entre velocidade e qualidade:</a:t>
            </a:r>
            <a:endParaRPr b="0" i="0" sz="950" u="none" cap="none" strike="noStrike"/>
          </a:p>
        </p:txBody>
      </p:sp>
      <p:sp>
        <p:nvSpPr>
          <p:cNvPr id="204" name="Google Shape;204;p21"/>
          <p:cNvSpPr/>
          <p:nvPr/>
        </p:nvSpPr>
        <p:spPr>
          <a:xfrm>
            <a:off x="496119" y="3887986"/>
            <a:ext cx="3924598" cy="6821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950"/>
              <a:buFont typeface="Roboto"/>
              <a:buChar char="•"/>
            </a:pPr>
            <a:r>
              <a:rPr b="1" i="0" lang="en-US" sz="9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7B parâmetros</a:t>
            </a:r>
            <a:r>
              <a:rPr b="0" i="0" lang="en-US" sz="9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— Rápido, ideal para hardware limitado</a:t>
            </a:r>
            <a:endParaRPr b="0" i="0" sz="950" u="none" cap="none" strike="noStrike"/>
          </a:p>
          <a:p>
            <a:pPr indent="-342900" lvl="0" marL="34290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950"/>
              <a:buFont typeface="Roboto"/>
              <a:buChar char="•"/>
            </a:pPr>
            <a:r>
              <a:rPr b="1" i="0" lang="en-US" sz="9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8B parâmetros</a:t>
            </a:r>
            <a:r>
              <a:rPr b="0" i="0" lang="en-US" sz="9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— Equilíbrio entre performance e qualidade</a:t>
            </a:r>
            <a:endParaRPr b="0" i="0" sz="950" u="none" cap="none" strike="noStrike"/>
          </a:p>
          <a:p>
            <a:pPr indent="-342900" lvl="0" marL="34290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950"/>
              <a:buFont typeface="Roboto"/>
              <a:buChar char="•"/>
            </a:pPr>
            <a:r>
              <a:rPr b="1" i="0" lang="en-US" sz="9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70B parâmetros</a:t>
            </a:r>
            <a:r>
              <a:rPr b="0" i="0" lang="en-US" sz="9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— Máxima qualidade, requer GPU dedicada</a:t>
            </a:r>
            <a:endParaRPr b="0" i="0" sz="950" u="none" cap="none" strike="noStrike"/>
          </a:p>
        </p:txBody>
      </p:sp>
      <p:sp>
        <p:nvSpPr>
          <p:cNvPr id="205" name="Google Shape;205;p21"/>
          <p:cNvSpPr/>
          <p:nvPr/>
        </p:nvSpPr>
        <p:spPr>
          <a:xfrm>
            <a:off x="4728046" y="1825972"/>
            <a:ext cx="2048470" cy="193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1200"/>
              <a:buFont typeface="Raleway"/>
              <a:buNone/>
            </a:pPr>
            <a:r>
              <a:rPr b="0" i="0" lang="en-US" sz="1200" u="none" cap="none" strike="noStrike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Escalabilidade Híbrida</a:t>
            </a:r>
            <a:endParaRPr b="0" i="0" sz="1200" u="none" cap="none" strike="noStrike"/>
          </a:p>
        </p:txBody>
      </p:sp>
      <p:sp>
        <p:nvSpPr>
          <p:cNvPr id="206" name="Google Shape;206;p21"/>
          <p:cNvSpPr/>
          <p:nvPr/>
        </p:nvSpPr>
        <p:spPr>
          <a:xfrm>
            <a:off x="4728046" y="2143795"/>
            <a:ext cx="3924598" cy="5953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950"/>
              <a:buFont typeface="Roboto"/>
              <a:buNone/>
            </a:pPr>
            <a:r>
              <a:rPr b="0" i="0" lang="en-US" sz="9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Comece local para prototipagem e testes. Quando precisar escalar, integre com soluções em nuvem mantendo a mesma API. O Ollama suporta tanto ambientes de desenvolvimento quanto produção.</a:t>
            </a:r>
            <a:endParaRPr b="0" i="0" sz="950" u="none" cap="none" strike="noStrike"/>
          </a:p>
        </p:txBody>
      </p:sp>
      <p:sp>
        <p:nvSpPr>
          <p:cNvPr id="207" name="Google Shape;207;p21"/>
          <p:cNvSpPr/>
          <p:nvPr/>
        </p:nvSpPr>
        <p:spPr>
          <a:xfrm>
            <a:off x="4728046" y="2878708"/>
            <a:ext cx="3924598" cy="730225"/>
          </a:xfrm>
          <a:prstGeom prst="roundRect">
            <a:avLst>
              <a:gd fmla="val 7135" name="adj"/>
            </a:avLst>
          </a:prstGeom>
          <a:solidFill>
            <a:srgbClr val="B6FC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08" name="Google Shape;208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52020" y="3063255"/>
            <a:ext cx="155004" cy="123974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21"/>
          <p:cNvSpPr/>
          <p:nvPr/>
        </p:nvSpPr>
        <p:spPr>
          <a:xfrm>
            <a:off x="5130998" y="3033638"/>
            <a:ext cx="3397672" cy="4016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Roboto"/>
              <a:buNone/>
            </a:pPr>
            <a:r>
              <a:rPr b="0" i="0" lang="en-US" sz="9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Dica: Use </a:t>
            </a:r>
            <a:r>
              <a:rPr b="0" i="0" lang="en-US" sz="950" u="none" cap="none" strike="noStrike">
                <a:solidFill>
                  <a:srgbClr val="000000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ollama serve</a:t>
            </a:r>
            <a:r>
              <a:rPr b="0" i="0" lang="en-US" sz="9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para expor a API na rede local e conectar múltiplas aplicações simultaneamente.</a:t>
            </a:r>
            <a:endParaRPr b="0" i="0" sz="950" u="none" cap="none" strike="noStrike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2"/>
          <p:cNvSpPr/>
          <p:nvPr/>
        </p:nvSpPr>
        <p:spPr>
          <a:xfrm>
            <a:off x="5715000" y="0"/>
            <a:ext cx="3429000" cy="5143500"/>
          </a:xfrm>
          <a:prstGeom prst="rect">
            <a:avLst/>
          </a:prstGeom>
          <a:solidFill>
            <a:srgbClr val="E1E1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6" name="Google Shape;216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76987" y="92943"/>
            <a:ext cx="3305026" cy="4957539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2"/>
          <p:cNvSpPr/>
          <p:nvPr/>
        </p:nvSpPr>
        <p:spPr>
          <a:xfrm>
            <a:off x="496119" y="591815"/>
            <a:ext cx="3558332" cy="3875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2400"/>
              <a:buFont typeface="Raleway"/>
              <a:buNone/>
            </a:pPr>
            <a:r>
              <a:rPr b="0" i="0" lang="en-US" sz="2400" u="none" cap="none" strike="noStrike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O Futuro é Local</a:t>
            </a:r>
            <a:endParaRPr b="0" i="0" sz="2400" u="none" cap="none" strike="noStrike"/>
          </a:p>
        </p:txBody>
      </p:sp>
      <p:sp>
        <p:nvSpPr>
          <p:cNvPr id="218" name="Google Shape;218;p22"/>
          <p:cNvSpPr/>
          <p:nvPr/>
        </p:nvSpPr>
        <p:spPr>
          <a:xfrm>
            <a:off x="496119" y="1165399"/>
            <a:ext cx="4722763" cy="396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950"/>
              <a:buFont typeface="Roboto"/>
              <a:buNone/>
            </a:pPr>
            <a:r>
              <a:rPr b="0" i="0" lang="en-US" sz="9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A inteligência artificial não precisa estar na nuvem. Com o Ollama, você tem controle total sobre seus dados, seus modelos e seus projetos — hoje e no futuro.</a:t>
            </a:r>
            <a:endParaRPr b="0" i="0" sz="950" u="none" cap="none" strike="noStrike"/>
          </a:p>
        </p:txBody>
      </p:sp>
      <p:sp>
        <p:nvSpPr>
          <p:cNvPr id="219" name="Google Shape;219;p22"/>
          <p:cNvSpPr/>
          <p:nvPr/>
        </p:nvSpPr>
        <p:spPr>
          <a:xfrm>
            <a:off x="496119" y="1701850"/>
            <a:ext cx="4722763" cy="2034257"/>
          </a:xfrm>
          <a:prstGeom prst="roundRect">
            <a:avLst>
              <a:gd fmla="val 2561" name="adj"/>
            </a:avLst>
          </a:prstGeom>
          <a:solidFill>
            <a:srgbClr val="E1E1EA"/>
          </a:solidFill>
          <a:ln cap="flat" cmpd="sng" w="9525">
            <a:solidFill>
              <a:srgbClr val="C7C7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22"/>
          <p:cNvSpPr/>
          <p:nvPr/>
        </p:nvSpPr>
        <p:spPr>
          <a:xfrm>
            <a:off x="500881" y="1706612"/>
            <a:ext cx="2356619" cy="1111597"/>
          </a:xfrm>
          <a:prstGeom prst="roundRect">
            <a:avLst>
              <a:gd fmla="val 4687" name="adj"/>
            </a:avLst>
          </a:prstGeom>
          <a:solidFill>
            <a:srgbClr val="E1E1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22"/>
          <p:cNvSpPr/>
          <p:nvPr/>
        </p:nvSpPr>
        <p:spPr>
          <a:xfrm>
            <a:off x="624855" y="1830586"/>
            <a:ext cx="1550566" cy="193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aleway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🔐</a:t>
            </a:r>
            <a:r>
              <a:rPr b="0" i="0" lang="en-US" sz="120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 Controle Total</a:t>
            </a:r>
            <a:endParaRPr b="0" i="0" sz="1200" u="none" cap="none" strike="noStrike"/>
          </a:p>
        </p:txBody>
      </p:sp>
      <p:sp>
        <p:nvSpPr>
          <p:cNvPr id="222" name="Google Shape;222;p22"/>
          <p:cNvSpPr/>
          <p:nvPr/>
        </p:nvSpPr>
        <p:spPr>
          <a:xfrm>
            <a:off x="624855" y="2098849"/>
            <a:ext cx="2108671" cy="5953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950"/>
              <a:buFont typeface="Roboto"/>
              <a:buNone/>
            </a:pPr>
            <a:r>
              <a:rPr b="0" i="0" lang="en-US" sz="9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Seus dados nunca saem da sua máquina. Privacidade real, não apenas prometida.</a:t>
            </a:r>
            <a:endParaRPr b="0" i="0" sz="950" u="none" cap="none" strike="noStrike"/>
          </a:p>
        </p:txBody>
      </p:sp>
      <p:sp>
        <p:nvSpPr>
          <p:cNvPr id="223" name="Google Shape;223;p22"/>
          <p:cNvSpPr/>
          <p:nvPr/>
        </p:nvSpPr>
        <p:spPr>
          <a:xfrm>
            <a:off x="2857500" y="1706612"/>
            <a:ext cx="2356619" cy="1111597"/>
          </a:xfrm>
          <a:prstGeom prst="rect">
            <a:avLst/>
          </a:prstGeom>
          <a:solidFill>
            <a:srgbClr val="E1E1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22"/>
          <p:cNvSpPr/>
          <p:nvPr/>
        </p:nvSpPr>
        <p:spPr>
          <a:xfrm>
            <a:off x="2857500" y="1706612"/>
            <a:ext cx="14288" cy="1111597"/>
          </a:xfrm>
          <a:prstGeom prst="roundRect">
            <a:avLst>
              <a:gd fmla="val 364638" name="adj"/>
            </a:avLst>
          </a:prstGeom>
          <a:solidFill>
            <a:srgbClr val="C7C7D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22"/>
          <p:cNvSpPr/>
          <p:nvPr/>
        </p:nvSpPr>
        <p:spPr>
          <a:xfrm>
            <a:off x="2981474" y="1830586"/>
            <a:ext cx="1772394" cy="193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aleway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🎓</a:t>
            </a:r>
            <a:r>
              <a:rPr b="0" i="0" lang="en-US" sz="120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 Ferramenta Essencial</a:t>
            </a:r>
            <a:endParaRPr b="0" i="0" sz="1200" u="none" cap="none" strike="noStrike"/>
          </a:p>
        </p:txBody>
      </p:sp>
      <p:sp>
        <p:nvSpPr>
          <p:cNvPr id="226" name="Google Shape;226;p22"/>
          <p:cNvSpPr/>
          <p:nvPr/>
        </p:nvSpPr>
        <p:spPr>
          <a:xfrm>
            <a:off x="2981474" y="2098849"/>
            <a:ext cx="2108671" cy="5953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950"/>
              <a:buFont typeface="Roboto"/>
              <a:buNone/>
            </a:pPr>
            <a:r>
              <a:rPr b="0" i="0" lang="en-US" sz="9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Perfeita para estudos, testes, pesquisa e desenvolvimento de aplicações com IA.</a:t>
            </a:r>
            <a:endParaRPr b="0" i="0" sz="950" u="none" cap="none" strike="noStrike"/>
          </a:p>
        </p:txBody>
      </p:sp>
      <p:sp>
        <p:nvSpPr>
          <p:cNvPr id="227" name="Google Shape;227;p22"/>
          <p:cNvSpPr/>
          <p:nvPr/>
        </p:nvSpPr>
        <p:spPr>
          <a:xfrm>
            <a:off x="500881" y="2818209"/>
            <a:ext cx="4713238" cy="913135"/>
          </a:xfrm>
          <a:prstGeom prst="rect">
            <a:avLst/>
          </a:prstGeom>
          <a:solidFill>
            <a:srgbClr val="E1E1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22"/>
          <p:cNvSpPr/>
          <p:nvPr/>
        </p:nvSpPr>
        <p:spPr>
          <a:xfrm>
            <a:off x="500881" y="2818209"/>
            <a:ext cx="4713238" cy="14288"/>
          </a:xfrm>
          <a:prstGeom prst="roundRect">
            <a:avLst>
              <a:gd fmla="val 364638" name="adj"/>
            </a:avLst>
          </a:prstGeom>
          <a:solidFill>
            <a:srgbClr val="C7C7D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22"/>
          <p:cNvSpPr/>
          <p:nvPr/>
        </p:nvSpPr>
        <p:spPr>
          <a:xfrm>
            <a:off x="624855" y="2942183"/>
            <a:ext cx="1550566" cy="193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aleway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🚀</a:t>
            </a:r>
            <a:r>
              <a:rPr b="0" i="0" lang="en-US" sz="120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 Comece Agora</a:t>
            </a:r>
            <a:endParaRPr b="0" i="0" sz="1200" u="none" cap="none" strike="noStrike"/>
          </a:p>
        </p:txBody>
      </p:sp>
      <p:sp>
        <p:nvSpPr>
          <p:cNvPr id="230" name="Google Shape;230;p22"/>
          <p:cNvSpPr/>
          <p:nvPr/>
        </p:nvSpPr>
        <p:spPr>
          <a:xfrm>
            <a:off x="624855" y="3210446"/>
            <a:ext cx="4465290" cy="396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950"/>
              <a:buFont typeface="Roboto"/>
              <a:buNone/>
            </a:pPr>
            <a:r>
              <a:rPr b="0" i="0" lang="en-US" sz="9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Instale em minutos e rode seu primeiro modelo hoje mesmo. Acesse </a:t>
            </a:r>
            <a:r>
              <a:rPr b="1" i="0" lang="en-US" sz="9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ollama.com</a:t>
            </a:r>
            <a:r>
              <a:rPr b="0" i="0" lang="en-US" sz="9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b="0" i="0" sz="950" u="none" cap="none" strike="noStrike"/>
          </a:p>
        </p:txBody>
      </p:sp>
      <p:sp>
        <p:nvSpPr>
          <p:cNvPr id="231" name="Google Shape;231;p22"/>
          <p:cNvSpPr/>
          <p:nvPr/>
        </p:nvSpPr>
        <p:spPr>
          <a:xfrm>
            <a:off x="682154" y="4015160"/>
            <a:ext cx="4536728" cy="396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950"/>
              <a:buFont typeface="Roboto"/>
              <a:buNone/>
            </a:pPr>
            <a:r>
              <a:rPr b="0" i="0" lang="en-US" sz="9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"A melhor forma de prever o futuro é criá-lo." — Comece a construir com IA local hoje.</a:t>
            </a:r>
            <a:endParaRPr b="0" i="0" sz="950" u="none" cap="none" strike="noStrike"/>
          </a:p>
        </p:txBody>
      </p:sp>
      <p:sp>
        <p:nvSpPr>
          <p:cNvPr id="232" name="Google Shape;232;p22"/>
          <p:cNvSpPr/>
          <p:nvPr/>
        </p:nvSpPr>
        <p:spPr>
          <a:xfrm>
            <a:off x="496119" y="3875633"/>
            <a:ext cx="14288" cy="675977"/>
          </a:xfrm>
          <a:prstGeom prst="rect">
            <a:avLst/>
          </a:prstGeom>
          <a:solidFill>
            <a:srgbClr val="1B1B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