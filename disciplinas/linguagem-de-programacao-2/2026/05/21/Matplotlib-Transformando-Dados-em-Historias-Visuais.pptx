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DM Sans Medium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7.xml"/><Relationship Id="rId22" Type="http://schemas.openxmlformats.org/officeDocument/2006/relationships/font" Target="fonts/Inter-boldItalic.fntdata"/><Relationship Id="rId10" Type="http://schemas.openxmlformats.org/officeDocument/2006/relationships/slide" Target="slides/slide6.xml"/><Relationship Id="rId21" Type="http://schemas.openxmlformats.org/officeDocument/2006/relationships/font" Target="fonts/Inter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DMSansMedium-regular.fntdata"/><Relationship Id="rId14" Type="http://schemas.openxmlformats.org/officeDocument/2006/relationships/slide" Target="slides/slide10.xml"/><Relationship Id="rId17" Type="http://schemas.openxmlformats.org/officeDocument/2006/relationships/font" Target="fonts/DMSansMedium-italic.fntdata"/><Relationship Id="rId16" Type="http://schemas.openxmlformats.org/officeDocument/2006/relationships/font" Target="fonts/DMSansMedium-bold.fntdata"/><Relationship Id="rId5" Type="http://schemas.openxmlformats.org/officeDocument/2006/relationships/slide" Target="slides/slide1.xml"/><Relationship Id="rId19" Type="http://schemas.openxmlformats.org/officeDocument/2006/relationships/font" Target="fonts/Inter-regular.fntdata"/><Relationship Id="rId6" Type="http://schemas.openxmlformats.org/officeDocument/2006/relationships/slide" Target="slides/slide2.xml"/><Relationship Id="rId18" Type="http://schemas.openxmlformats.org/officeDocument/2006/relationships/font" Target="fonts/DMSansMedium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21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4C50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7F8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Matplotlib: Transformando Dados em Histórias Visuais</a:t>
            </a:r>
            <a:endParaRPr b="0" i="0" sz="2750" u="none" cap="none" strike="noStrike"/>
          </a:p>
        </p:txBody>
      </p:sp>
      <p:sp>
        <p:nvSpPr>
          <p:cNvPr id="59" name="Google Shape;59;p13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 biblioteca fundamental do ecossistema Python para criar visualizações estáticas, animadas e interativas de alta qualidade.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213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4C50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5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/>
          <p:nvPr/>
        </p:nvSpPr>
        <p:spPr>
          <a:xfrm>
            <a:off x="496119" y="922065"/>
            <a:ext cx="4179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7F8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 Arte da Visualização</a:t>
            </a:r>
            <a:endParaRPr b="0" i="0" sz="2750" u="none" cap="none" strike="noStrike"/>
          </a:p>
        </p:txBody>
      </p:sp>
      <p:sp>
        <p:nvSpPr>
          <p:cNvPr id="68" name="Google Shape;68;p14"/>
          <p:cNvSpPr/>
          <p:nvPr/>
        </p:nvSpPr>
        <p:spPr>
          <a:xfrm>
            <a:off x="496119" y="1577653"/>
            <a:ext cx="4722763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 capacidade de transformar números brutos em formas e cores permite que o cérebro humano identifique padrões de maneira instantânea.</a:t>
            </a:r>
            <a:endParaRPr b="0" i="0" sz="1100" u="none" cap="none" strike="noStrike"/>
          </a:p>
        </p:txBody>
      </p:sp>
      <p:sp>
        <p:nvSpPr>
          <p:cNvPr id="69" name="Google Shape;69;p14"/>
          <p:cNvSpPr/>
          <p:nvPr/>
        </p:nvSpPr>
        <p:spPr>
          <a:xfrm>
            <a:off x="477069" y="2398514"/>
            <a:ext cx="38100" cy="798240"/>
          </a:xfrm>
          <a:prstGeom prst="rect">
            <a:avLst/>
          </a:prstGeom>
          <a:solidFill>
            <a:srgbClr val="AC9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675977" y="2417564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Padrões Invisíveis</a:t>
            </a:r>
            <a:endParaRPr b="0" i="0" sz="1350" u="none" cap="none" strike="noStrike"/>
          </a:p>
        </p:txBody>
      </p:sp>
      <p:sp>
        <p:nvSpPr>
          <p:cNvPr id="71" name="Google Shape;71;p14"/>
          <p:cNvSpPr/>
          <p:nvPr/>
        </p:nvSpPr>
        <p:spPr>
          <a:xfrm>
            <a:off x="675977" y="2724076"/>
            <a:ext cx="454290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Identifique tendências ocultas, outliers e correlações que seriam impossíveis de notar em tabelas de texto.</a:t>
            </a:r>
            <a:endParaRPr b="0" i="0" sz="1100" u="none" cap="none" strike="noStrike"/>
          </a:p>
        </p:txBody>
      </p:sp>
      <p:sp>
        <p:nvSpPr>
          <p:cNvPr id="72" name="Google Shape;72;p14"/>
          <p:cNvSpPr/>
          <p:nvPr/>
        </p:nvSpPr>
        <p:spPr>
          <a:xfrm>
            <a:off x="477069" y="3442171"/>
            <a:ext cx="38100" cy="798240"/>
          </a:xfrm>
          <a:prstGeom prst="rect">
            <a:avLst/>
          </a:prstGeom>
          <a:solidFill>
            <a:srgbClr val="AC9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675977" y="3461221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Padrão Industrial</a:t>
            </a:r>
            <a:endParaRPr b="0" i="0" sz="1350" u="none" cap="none" strike="noStrike"/>
          </a:p>
        </p:txBody>
      </p:sp>
      <p:sp>
        <p:nvSpPr>
          <p:cNvPr id="74" name="Google Shape;74;p14"/>
          <p:cNvSpPr/>
          <p:nvPr/>
        </p:nvSpPr>
        <p:spPr>
          <a:xfrm>
            <a:off x="675977" y="3767733"/>
            <a:ext cx="454290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Criado por John Hunter em 2003, o Matplotlib tornou-se a ferramenta padrão para cientistas e analistas no mundo todo.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213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/>
          <p:nvPr/>
        </p:nvSpPr>
        <p:spPr>
          <a:xfrm>
            <a:off x="496119" y="1148432"/>
            <a:ext cx="504155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7F8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Os Três Pilares da Estrutura</a:t>
            </a:r>
            <a:endParaRPr b="0" i="0" sz="2750" u="none" cap="none" strike="noStrike"/>
          </a:p>
        </p:txBody>
      </p:sp>
      <p:sp>
        <p:nvSpPr>
          <p:cNvPr id="81" name="Google Shape;81;p15"/>
          <p:cNvSpPr/>
          <p:nvPr/>
        </p:nvSpPr>
        <p:spPr>
          <a:xfrm>
            <a:off x="496119" y="1874937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Para dominar o Matplotlib, é essencial compreender sua arquitetura hierárquica fundamental, baseada em três conceitos:</a:t>
            </a:r>
            <a:endParaRPr b="0" i="0" sz="1100" u="none" cap="none" strike="noStrike"/>
          </a:p>
        </p:txBody>
      </p:sp>
      <p:sp>
        <p:nvSpPr>
          <p:cNvPr id="82" name="Google Shape;82;p15"/>
          <p:cNvSpPr/>
          <p:nvPr/>
        </p:nvSpPr>
        <p:spPr>
          <a:xfrm>
            <a:off x="496119" y="2261220"/>
            <a:ext cx="2622724" cy="1733848"/>
          </a:xfrm>
          <a:prstGeom prst="roundRect">
            <a:avLst>
              <a:gd fmla="val 1226" name="adj"/>
            </a:avLst>
          </a:prstGeom>
          <a:solidFill>
            <a:srgbClr val="2D3133"/>
          </a:solidFill>
          <a:ln cap="flat" cmpd="sng" w="19050">
            <a:solidFill>
              <a:srgbClr val="656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515169" y="2280270"/>
            <a:ext cx="2584624" cy="425276"/>
          </a:xfrm>
          <a:prstGeom prst="rect">
            <a:avLst/>
          </a:prstGeom>
          <a:solidFill>
            <a:srgbClr val="4C50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1701180" y="2359968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650"/>
              <a:buFont typeface="DM Sans Medium"/>
              <a:buNone/>
            </a:pPr>
            <a:r>
              <a:rPr b="0" i="0" lang="en-US" sz="165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</a:t>
            </a:r>
            <a:endParaRPr b="0" i="0" sz="1650" u="none" cap="none" strike="noStrike"/>
          </a:p>
        </p:txBody>
      </p:sp>
      <p:sp>
        <p:nvSpPr>
          <p:cNvPr id="85" name="Google Shape;85;p15"/>
          <p:cNvSpPr/>
          <p:nvPr/>
        </p:nvSpPr>
        <p:spPr>
          <a:xfrm>
            <a:off x="656927" y="2847305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Figure</a:t>
            </a:r>
            <a:endParaRPr b="0" i="0" sz="1350" u="none" cap="none" strike="noStrike"/>
          </a:p>
        </p:txBody>
      </p:sp>
      <p:sp>
        <p:nvSpPr>
          <p:cNvPr id="86" name="Google Shape;86;p15"/>
          <p:cNvSpPr/>
          <p:nvPr/>
        </p:nvSpPr>
        <p:spPr>
          <a:xfrm>
            <a:off x="656927" y="3153817"/>
            <a:ext cx="2301106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 janela ou página inteira que serve de tela para o seu trabalho, contendo um ou mais gráficos.</a:t>
            </a:r>
            <a:endParaRPr b="0" i="0" sz="1100" u="none" cap="none" strike="noStrike"/>
          </a:p>
        </p:txBody>
      </p:sp>
      <p:sp>
        <p:nvSpPr>
          <p:cNvPr id="87" name="Google Shape;87;p15"/>
          <p:cNvSpPr/>
          <p:nvPr/>
        </p:nvSpPr>
        <p:spPr>
          <a:xfrm>
            <a:off x="3260601" y="2261220"/>
            <a:ext cx="2622724" cy="1733848"/>
          </a:xfrm>
          <a:prstGeom prst="roundRect">
            <a:avLst>
              <a:gd fmla="val 1226" name="adj"/>
            </a:avLst>
          </a:prstGeom>
          <a:solidFill>
            <a:srgbClr val="2D3133"/>
          </a:solidFill>
          <a:ln cap="flat" cmpd="sng" w="19050">
            <a:solidFill>
              <a:srgbClr val="656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3279651" y="2280270"/>
            <a:ext cx="2584624" cy="425276"/>
          </a:xfrm>
          <a:prstGeom prst="rect">
            <a:avLst/>
          </a:prstGeom>
          <a:solidFill>
            <a:srgbClr val="4C50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4465662" y="2359968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650"/>
              <a:buFont typeface="DM Sans Medium"/>
              <a:buNone/>
            </a:pPr>
            <a:r>
              <a:rPr b="0" i="0" lang="en-US" sz="165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2</a:t>
            </a:r>
            <a:endParaRPr b="0" i="0" sz="1650" u="none" cap="none" strike="noStrike"/>
          </a:p>
        </p:txBody>
      </p:sp>
      <p:sp>
        <p:nvSpPr>
          <p:cNvPr id="90" name="Google Shape;90;p15"/>
          <p:cNvSpPr/>
          <p:nvPr/>
        </p:nvSpPr>
        <p:spPr>
          <a:xfrm>
            <a:off x="3421410" y="2847305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Axes</a:t>
            </a:r>
            <a:endParaRPr b="0" i="0" sz="1350" u="none" cap="none" strike="noStrike"/>
          </a:p>
        </p:txBody>
      </p:sp>
      <p:sp>
        <p:nvSpPr>
          <p:cNvPr id="91" name="Google Shape;91;p15"/>
          <p:cNvSpPr/>
          <p:nvPr/>
        </p:nvSpPr>
        <p:spPr>
          <a:xfrm>
            <a:off x="3421410" y="3153817"/>
            <a:ext cx="2301106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 área real onde o gráfico é desenhado, contendo o título, rótulos e os dados plotados.</a:t>
            </a:r>
            <a:endParaRPr b="0" i="0" sz="1100" u="none" cap="none" strike="noStrike"/>
          </a:p>
        </p:txBody>
      </p:sp>
      <p:sp>
        <p:nvSpPr>
          <p:cNvPr id="92" name="Google Shape;92;p15"/>
          <p:cNvSpPr/>
          <p:nvPr/>
        </p:nvSpPr>
        <p:spPr>
          <a:xfrm>
            <a:off x="6025083" y="2261220"/>
            <a:ext cx="2622724" cy="1733848"/>
          </a:xfrm>
          <a:prstGeom prst="roundRect">
            <a:avLst>
              <a:gd fmla="val 1226" name="adj"/>
            </a:avLst>
          </a:prstGeom>
          <a:solidFill>
            <a:srgbClr val="2D3133"/>
          </a:solidFill>
          <a:ln cap="flat" cmpd="sng" w="19050">
            <a:solidFill>
              <a:srgbClr val="656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6044133" y="2280270"/>
            <a:ext cx="2584624" cy="425276"/>
          </a:xfrm>
          <a:prstGeom prst="rect">
            <a:avLst/>
          </a:prstGeom>
          <a:solidFill>
            <a:srgbClr val="4C50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7230145" y="2359968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650"/>
              <a:buFont typeface="DM Sans Medium"/>
              <a:buNone/>
            </a:pPr>
            <a:r>
              <a:rPr b="0" i="0" lang="en-US" sz="165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3</a:t>
            </a:r>
            <a:endParaRPr b="0" i="0" sz="1650" u="none" cap="none" strike="noStrike"/>
          </a:p>
        </p:txBody>
      </p:sp>
      <p:sp>
        <p:nvSpPr>
          <p:cNvPr id="95" name="Google Shape;95;p15"/>
          <p:cNvSpPr/>
          <p:nvPr/>
        </p:nvSpPr>
        <p:spPr>
          <a:xfrm>
            <a:off x="6185892" y="2847305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Axis</a:t>
            </a:r>
            <a:endParaRPr b="0" i="0" sz="1350" u="none" cap="none" strike="noStrike"/>
          </a:p>
        </p:txBody>
      </p:sp>
      <p:sp>
        <p:nvSpPr>
          <p:cNvPr id="96" name="Google Shape;96;p15"/>
          <p:cNvSpPr/>
          <p:nvPr/>
        </p:nvSpPr>
        <p:spPr>
          <a:xfrm>
            <a:off x="6185892" y="3153817"/>
            <a:ext cx="2301106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As linhas numéricas (eixos X e Y) que definem a escala, os limites e as marcas de gradação.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213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/>
          <p:nvPr/>
        </p:nvSpPr>
        <p:spPr>
          <a:xfrm>
            <a:off x="674489" y="346770"/>
            <a:ext cx="5886376" cy="352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7F8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Esquema Hierárquico: Figure, Axes e Axis</a:t>
            </a:r>
            <a:endParaRPr b="0" i="0" sz="2200" u="none" cap="none" strike="noStrike"/>
          </a:p>
        </p:txBody>
      </p:sp>
      <p:sp>
        <p:nvSpPr>
          <p:cNvPr id="103" name="Google Shape;103;p16"/>
          <p:cNvSpPr/>
          <p:nvPr/>
        </p:nvSpPr>
        <p:spPr>
          <a:xfrm>
            <a:off x="674489" y="2140074"/>
            <a:ext cx="3759622" cy="487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Tudo o que é visível em um gráfico do Matplotlib é um </a:t>
            </a:r>
            <a:r>
              <a:rPr b="1" i="0" lang="en-US" sz="850" u="none" cap="none" strike="noStrike">
                <a:solidFill>
                  <a:srgbClr val="AC9EF5"/>
                </a:solidFill>
                <a:latin typeface="Inter"/>
                <a:ea typeface="Inter"/>
                <a:cs typeface="Inter"/>
                <a:sym typeface="Inter"/>
              </a:rPr>
              <a:t>Artist</a:t>
            </a:r>
            <a:r>
              <a:rPr b="0" i="0" lang="en-US" sz="8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. A estrutura se organiza de forma hierárquica, onde a Figure é o contêiner de nível mais alto.</a:t>
            </a:r>
            <a:endParaRPr b="0" i="0" sz="850" u="none" cap="none" strike="noStrike"/>
          </a:p>
        </p:txBody>
      </p:sp>
      <p:sp>
        <p:nvSpPr>
          <p:cNvPr id="104" name="Google Shape;104;p16"/>
          <p:cNvSpPr/>
          <p:nvPr/>
        </p:nvSpPr>
        <p:spPr>
          <a:xfrm>
            <a:off x="674489" y="2728392"/>
            <a:ext cx="3759622" cy="742727"/>
          </a:xfrm>
          <a:prstGeom prst="roundRect">
            <a:avLst>
              <a:gd fmla="val 2282" name="adj"/>
            </a:avLst>
          </a:prstGeom>
          <a:solidFill>
            <a:srgbClr val="022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5" name="Google Shape;1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450" y="2889721"/>
            <a:ext cx="141163" cy="11296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/>
          <p:nvPr/>
        </p:nvSpPr>
        <p:spPr>
          <a:xfrm>
            <a:off x="1041574" y="2846561"/>
            <a:ext cx="3279577" cy="487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Dica de Design:</a:t>
            </a:r>
            <a:r>
              <a:rPr b="0" i="0" lang="en-US" sz="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Entender essa hierarquia permite personalizar absolutamente qualquer elemento visual na tela, desde a espessura da borda até a fonte de pequenos rótulos.       </a:t>
            </a:r>
            <a:endParaRPr b="0" i="0" sz="850" u="none" cap="none" strike="noStrike"/>
          </a:p>
        </p:txBody>
      </p:sp>
      <p:pic>
        <p:nvPicPr>
          <p:cNvPr descr="preencoded.png" id="107" name="Google Shape;10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4503" y="935906"/>
            <a:ext cx="3759622" cy="37596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8" name="Google Shape;10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4503" y="935906"/>
            <a:ext cx="3759622" cy="3759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213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4C50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1452" y="99640"/>
            <a:ext cx="3296096" cy="494414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/>
          <p:nvPr/>
        </p:nvSpPr>
        <p:spPr>
          <a:xfrm>
            <a:off x="465162" y="462409"/>
            <a:ext cx="5206157" cy="41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7F8"/>
              </a:buClr>
              <a:buSzPts val="2600"/>
              <a:buFont typeface="DM Sans Medium"/>
              <a:buNone/>
            </a:pPr>
            <a:r>
              <a:rPr b="0" i="0" lang="en-US" sz="2600" u="none" cap="none" strike="noStrike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Interface Implícita vs. Explícita</a:t>
            </a:r>
            <a:endParaRPr b="0" i="0" sz="2600" u="none" cap="none" strike="noStrike"/>
          </a:p>
        </p:txBody>
      </p:sp>
      <p:sp>
        <p:nvSpPr>
          <p:cNvPr id="117" name="Google Shape;117;p17"/>
          <p:cNvSpPr/>
          <p:nvPr/>
        </p:nvSpPr>
        <p:spPr>
          <a:xfrm>
            <a:off x="465162" y="1064568"/>
            <a:ext cx="4784675" cy="411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O Matplotlib oferece duas formas distintas de construir seus gráficos, adaptando-se à sua necessidade de velocidade ou de controle.</a:t>
            </a:r>
            <a:endParaRPr b="0" i="0" sz="1000" u="none" cap="none" strike="noStrike"/>
          </a:p>
        </p:txBody>
      </p:sp>
      <p:sp>
        <p:nvSpPr>
          <p:cNvPr id="118" name="Google Shape;118;p17"/>
          <p:cNvSpPr/>
          <p:nvPr/>
        </p:nvSpPr>
        <p:spPr>
          <a:xfrm>
            <a:off x="369540" y="1616646"/>
            <a:ext cx="2421508" cy="3064371"/>
          </a:xfrm>
          <a:prstGeom prst="roundRect">
            <a:avLst>
              <a:gd fmla="val 823" name="adj"/>
            </a:avLst>
          </a:prstGeom>
          <a:solidFill>
            <a:srgbClr val="AC9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502444" y="1741215"/>
            <a:ext cx="2155701" cy="415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M Sans Medium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Pyplot (Abordagem Implícita)</a:t>
            </a:r>
            <a:endParaRPr b="0" i="0" sz="1300" u="none" cap="none" strike="noStrike"/>
          </a:p>
        </p:txBody>
      </p:sp>
      <p:sp>
        <p:nvSpPr>
          <p:cNvPr id="120" name="Google Shape;120;p17"/>
          <p:cNvSpPr/>
          <p:nvPr/>
        </p:nvSpPr>
        <p:spPr>
          <a:xfrm>
            <a:off x="502444" y="2281163"/>
            <a:ext cx="2155701" cy="8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Focada em rapidez. Perfeita para rascunhos, análise rápida em Jupyter Notebooks e scripts simples.</a:t>
            </a:r>
            <a:endParaRPr b="0" i="0" sz="1000" u="none" cap="none" strike="noStrike"/>
          </a:p>
        </p:txBody>
      </p:sp>
      <p:sp>
        <p:nvSpPr>
          <p:cNvPr id="121" name="Google Shape;121;p17"/>
          <p:cNvSpPr/>
          <p:nvPr/>
        </p:nvSpPr>
        <p:spPr>
          <a:xfrm>
            <a:off x="502444" y="3245197"/>
            <a:ext cx="2155701" cy="1295698"/>
          </a:xfrm>
          <a:prstGeom prst="roundRect">
            <a:avLst>
              <a:gd fmla="val 1539" name="adj"/>
            </a:avLst>
          </a:prstGeom>
          <a:solidFill>
            <a:srgbClr val="9F91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495821" y="3245197"/>
            <a:ext cx="2168947" cy="1295698"/>
          </a:xfrm>
          <a:prstGeom prst="roundRect">
            <a:avLst>
              <a:gd fmla="val 1539" name="adj"/>
            </a:avLst>
          </a:prstGeom>
          <a:solidFill>
            <a:srgbClr val="9F91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661913" y="3378101"/>
            <a:ext cx="1836762" cy="102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import matplotlib.pyplot as plt</a:t>
            </a:r>
            <a:endParaRPr b="0" i="0" sz="1000" u="none" cap="none" strike="noStrike"/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plt.plot(x, y)</a:t>
            </a:r>
            <a:endParaRPr b="0" i="0" sz="1000" u="none" cap="none" strike="noStrike"/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plt.show()</a:t>
            </a:r>
            <a:endParaRPr b="0" i="0" sz="1000" u="none" cap="none" strike="noStrike"/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 b="0" i="0" sz="1000" u="none" cap="none" strike="noStrike"/>
          </a:p>
        </p:txBody>
      </p:sp>
      <p:sp>
        <p:nvSpPr>
          <p:cNvPr id="124" name="Google Shape;124;p17"/>
          <p:cNvSpPr/>
          <p:nvPr/>
        </p:nvSpPr>
        <p:spPr>
          <a:xfrm>
            <a:off x="3024336" y="1741215"/>
            <a:ext cx="2230264" cy="415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7F8"/>
              </a:buClr>
              <a:buSzPts val="1300"/>
              <a:buFont typeface="DM Sans Medium"/>
              <a:buNone/>
            </a:pPr>
            <a:r>
              <a:rPr b="0" i="0" lang="en-US" sz="1300" u="none" cap="none" strike="noStrike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Orientada a Objetos (Explícita)</a:t>
            </a:r>
            <a:endParaRPr b="0" i="0" sz="1300" u="none" cap="none" strike="noStrike"/>
          </a:p>
        </p:txBody>
      </p:sp>
      <p:sp>
        <p:nvSpPr>
          <p:cNvPr id="125" name="Google Shape;125;p17"/>
          <p:cNvSpPr/>
          <p:nvPr/>
        </p:nvSpPr>
        <p:spPr>
          <a:xfrm>
            <a:off x="3024336" y="2281163"/>
            <a:ext cx="2230264" cy="8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Focada em controle. Recomendada para projetos robustos, múltiplos subplots e customização avançada.</a:t>
            </a:r>
            <a:endParaRPr b="0" i="0" sz="1000" u="none" cap="none" strike="noStrike"/>
          </a:p>
        </p:txBody>
      </p:sp>
      <p:sp>
        <p:nvSpPr>
          <p:cNvPr id="126" name="Google Shape;126;p17"/>
          <p:cNvSpPr/>
          <p:nvPr/>
        </p:nvSpPr>
        <p:spPr>
          <a:xfrm>
            <a:off x="3024336" y="3245197"/>
            <a:ext cx="2230264" cy="1089720"/>
          </a:xfrm>
          <a:prstGeom prst="roundRect">
            <a:avLst>
              <a:gd fmla="val 1829" name="adj"/>
            </a:avLst>
          </a:prstGeom>
          <a:solidFill>
            <a:srgbClr val="3A3E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3017713" y="3245197"/>
            <a:ext cx="2243510" cy="1089720"/>
          </a:xfrm>
          <a:prstGeom prst="roundRect">
            <a:avLst>
              <a:gd fmla="val 1829" name="adj"/>
            </a:avLst>
          </a:prstGeom>
          <a:solidFill>
            <a:srgbClr val="3A3E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3183806" y="3378101"/>
            <a:ext cx="1911325" cy="8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6D9D7"/>
                </a:solidFill>
                <a:latin typeface="Consolas"/>
                <a:ea typeface="Consolas"/>
                <a:cs typeface="Consolas"/>
                <a:sym typeface="Consolas"/>
              </a:rPr>
              <a:t>fig, ax = plt.subplots()</a:t>
            </a:r>
            <a:br>
              <a:rPr b="0" i="0" lang="en-US" sz="1000" u="none" cap="none" strike="noStrike">
                <a:solidFill>
                  <a:srgbClr val="D6D9D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D6D9D7"/>
                </a:solidFill>
                <a:latin typeface="Consolas"/>
                <a:ea typeface="Consolas"/>
                <a:cs typeface="Consolas"/>
                <a:sym typeface="Consolas"/>
              </a:rPr>
              <a:t>ax.plot(x, y)</a:t>
            </a:r>
            <a:br>
              <a:rPr b="0" i="0" lang="en-US" sz="1000" u="none" cap="none" strike="noStrike">
                <a:solidFill>
                  <a:srgbClr val="D6D9D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D6D9D7"/>
                </a:solidFill>
                <a:latin typeface="Consolas"/>
                <a:ea typeface="Consolas"/>
                <a:cs typeface="Consolas"/>
                <a:sym typeface="Consolas"/>
              </a:rPr>
              <a:t>plt.show()</a:t>
            </a:r>
            <a:br>
              <a:rPr b="0" i="0" lang="en-US" sz="1000" u="none" cap="none" strike="noStrike">
                <a:solidFill>
                  <a:srgbClr val="D6D9D7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0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213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/>
          <p:nvPr/>
        </p:nvSpPr>
        <p:spPr>
          <a:xfrm>
            <a:off x="449610" y="362248"/>
            <a:ext cx="3669060" cy="401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7F8"/>
              </a:buClr>
              <a:buSzPts val="2500"/>
              <a:buFont typeface="DM Sans Medium"/>
              <a:buNone/>
            </a:pPr>
            <a:r>
              <a:rPr b="0" i="0" lang="en-US" sz="2500" u="none" cap="none" strike="noStrike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Seu Primeiro Gráfico</a:t>
            </a:r>
            <a:endParaRPr b="0" i="0" sz="2500" u="none" cap="none" strike="noStrike"/>
          </a:p>
        </p:txBody>
      </p:sp>
      <p:sp>
        <p:nvSpPr>
          <p:cNvPr id="135" name="Google Shape;135;p18"/>
          <p:cNvSpPr/>
          <p:nvPr/>
        </p:nvSpPr>
        <p:spPr>
          <a:xfrm>
            <a:off x="449610" y="996553"/>
            <a:ext cx="8694390" cy="1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Escrever código claro e estruturado torna a criação de gráficos uma tarefa simples e intuitiva.</a:t>
            </a:r>
            <a:endParaRPr b="0" i="0" sz="1000" u="none" cap="none" strike="noStrike"/>
          </a:p>
        </p:txBody>
      </p:sp>
      <p:sp>
        <p:nvSpPr>
          <p:cNvPr id="136" name="Google Shape;136;p18"/>
          <p:cNvSpPr/>
          <p:nvPr/>
        </p:nvSpPr>
        <p:spPr>
          <a:xfrm>
            <a:off x="449610" y="1454423"/>
            <a:ext cx="5249391" cy="3195861"/>
          </a:xfrm>
          <a:prstGeom prst="roundRect">
            <a:avLst>
              <a:gd fmla="val 603" name="adj"/>
            </a:avLst>
          </a:prstGeom>
          <a:solidFill>
            <a:srgbClr val="3A3E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443210" y="1454423"/>
            <a:ext cx="5262190" cy="3195861"/>
          </a:xfrm>
          <a:prstGeom prst="roundRect">
            <a:avLst>
              <a:gd fmla="val 603" name="adj"/>
            </a:avLst>
          </a:prstGeom>
          <a:solidFill>
            <a:srgbClr val="3A3E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603796" y="1582862"/>
            <a:ext cx="4941019" cy="2938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7B72"/>
                </a:solidFill>
                <a:highlight>
                  <a:srgbClr val="3A3E40"/>
                </a:highlight>
                <a:latin typeface="Consolas"/>
                <a:ea typeface="Consolas"/>
                <a:cs typeface="Consolas"/>
                <a:sym typeface="Consolas"/>
              </a:rPr>
              <a:t>import matplotlib.pyplot as plt</a:t>
            </a:r>
            <a:endParaRPr b="0" i="0" sz="1000" u="none" cap="none" strike="noStrike"/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</a:pPr>
            <a:r>
              <a:t/>
            </a:r>
            <a:endParaRPr b="0" i="0" sz="1000" u="none" cap="none" strike="noStrike"/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7B72"/>
                </a:solidFill>
                <a:highlight>
                  <a:srgbClr val="3A3E40"/>
                </a:highlight>
                <a:latin typeface="Consolas"/>
                <a:ea typeface="Consolas"/>
                <a:cs typeface="Consolas"/>
                <a:sym typeface="Consolas"/>
              </a:rPr>
              <a:t># 1. Cria a estrutura</a:t>
            </a:r>
            <a:endParaRPr b="0" i="0" sz="1000" u="none" cap="none" strike="noStrike"/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7B72"/>
                </a:solidFill>
                <a:highlight>
                  <a:srgbClr val="3A3E40"/>
                </a:highlight>
                <a:latin typeface="Consolas"/>
                <a:ea typeface="Consolas"/>
                <a:cs typeface="Consolas"/>
                <a:sym typeface="Consolas"/>
              </a:rPr>
              <a:t>fig, ax = plt.subplots()</a:t>
            </a:r>
            <a:endParaRPr b="0" i="0" sz="1000" u="none" cap="none" strike="noStrike"/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</a:pPr>
            <a:r>
              <a:t/>
            </a:r>
            <a:endParaRPr b="0" i="0" sz="1000" u="none" cap="none" strike="noStrike"/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7B72"/>
                </a:solidFill>
                <a:highlight>
                  <a:srgbClr val="3A3E40"/>
                </a:highlight>
                <a:latin typeface="Consolas"/>
                <a:ea typeface="Consolas"/>
                <a:cs typeface="Consolas"/>
                <a:sym typeface="Consolas"/>
              </a:rPr>
              <a:t># 2. Plota os dados</a:t>
            </a:r>
            <a:endParaRPr b="0" i="0" sz="1000" u="none" cap="none" strike="noStrike"/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7B72"/>
                </a:solidFill>
                <a:highlight>
                  <a:srgbClr val="3A3E40"/>
                </a:highlight>
                <a:latin typeface="Consolas"/>
                <a:ea typeface="Consolas"/>
                <a:cs typeface="Consolas"/>
                <a:sym typeface="Consolas"/>
              </a:rPr>
              <a:t>ax.plot([1, 2, 3, 4], [1, 4, 9, 16])</a:t>
            </a:r>
            <a:endParaRPr b="0" i="0" sz="1000" u="none" cap="none" strike="noStrike"/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</a:pPr>
            <a:r>
              <a:t/>
            </a:r>
            <a:endParaRPr b="0" i="0" sz="1000" u="none" cap="none" strike="noStrike"/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7B72"/>
                </a:solidFill>
                <a:highlight>
                  <a:srgbClr val="3A3E40"/>
                </a:highlight>
                <a:latin typeface="Consolas"/>
                <a:ea typeface="Consolas"/>
                <a:cs typeface="Consolas"/>
                <a:sym typeface="Consolas"/>
              </a:rPr>
              <a:t># 3. Customiza</a:t>
            </a:r>
            <a:endParaRPr b="0" i="0" sz="1000" u="none" cap="none" strike="noStrike"/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7B72"/>
                </a:solidFill>
                <a:highlight>
                  <a:srgbClr val="3A3E40"/>
                </a:highlight>
                <a:latin typeface="Consolas"/>
                <a:ea typeface="Consolas"/>
                <a:cs typeface="Consolas"/>
                <a:sym typeface="Consolas"/>
              </a:rPr>
              <a:t>ax.set_title("Exemplo Simples")</a:t>
            </a:r>
            <a:endParaRPr b="0" i="0" sz="1000" u="none" cap="none" strike="noStrike"/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7B72"/>
                </a:solidFill>
                <a:highlight>
                  <a:srgbClr val="3A3E40"/>
                </a:highlight>
                <a:latin typeface="Consolas"/>
                <a:ea typeface="Consolas"/>
                <a:cs typeface="Consolas"/>
                <a:sym typeface="Consolas"/>
              </a:rPr>
              <a:t>ax.set_xlabel("Eixo X")</a:t>
            </a:r>
            <a:endParaRPr b="0" i="0" sz="1000" u="none" cap="none" strike="noStrike"/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7B72"/>
                </a:solidFill>
                <a:highlight>
                  <a:srgbClr val="3A3E40"/>
                </a:highlight>
                <a:latin typeface="Consolas"/>
                <a:ea typeface="Consolas"/>
                <a:cs typeface="Consolas"/>
                <a:sym typeface="Consolas"/>
              </a:rPr>
              <a:t>ax.set_ylabel("Eixo Y")</a:t>
            </a:r>
            <a:endParaRPr b="0" i="0" sz="1000" u="none" cap="none" strike="noStrike"/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</a:pPr>
            <a:r>
              <a:t/>
            </a:r>
            <a:endParaRPr b="0" i="0" sz="1000" u="none" cap="none" strike="noStrike"/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7B72"/>
                </a:solidFill>
                <a:highlight>
                  <a:srgbClr val="3A3E40"/>
                </a:highlight>
                <a:latin typeface="Consolas"/>
                <a:ea typeface="Consolas"/>
                <a:cs typeface="Consolas"/>
                <a:sym typeface="Consolas"/>
              </a:rPr>
              <a:t>plt.show()</a:t>
            </a:r>
            <a:endParaRPr b="0" i="0" sz="1000" u="none" cap="none" strike="noStrike"/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7B72"/>
                </a:solidFill>
                <a:highlight>
                  <a:srgbClr val="3A3E40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 b="0" i="0" sz="1000" u="none" cap="none" strike="noStrike"/>
          </a:p>
        </p:txBody>
      </p:sp>
      <p:pic>
        <p:nvPicPr>
          <p:cNvPr descr="preencoded.png" id="139" name="Google Shape;1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7196" y="1711375"/>
            <a:ext cx="2681883" cy="2681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213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/>
          <p:nvPr/>
        </p:nvSpPr>
        <p:spPr>
          <a:xfrm>
            <a:off x="674489" y="330771"/>
            <a:ext cx="5422702" cy="352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7F8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Exemplo Prático: Linhas e Tendências</a:t>
            </a:r>
            <a:endParaRPr b="0" i="0" sz="2200" u="none" cap="none" strike="noStrike"/>
          </a:p>
        </p:txBody>
      </p:sp>
      <p:sp>
        <p:nvSpPr>
          <p:cNvPr id="146" name="Google Shape;146;p19"/>
          <p:cNvSpPr/>
          <p:nvPr/>
        </p:nvSpPr>
        <p:spPr>
          <a:xfrm>
            <a:off x="674489" y="863724"/>
            <a:ext cx="8252147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O Matplotlib se integra perfeitamente ao NumPy, facilitando a plotagem de dados matemáticos complexos e séries temporais.</a:t>
            </a:r>
            <a:endParaRPr b="0" i="0" sz="850" u="none" cap="none" strike="noStrike"/>
          </a:p>
        </p:txBody>
      </p:sp>
      <p:pic>
        <p:nvPicPr>
          <p:cNvPr descr="preencoded.png"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489" y="1127299"/>
            <a:ext cx="7794947" cy="342178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/>
          <p:nvPr/>
        </p:nvSpPr>
        <p:spPr>
          <a:xfrm>
            <a:off x="1768200" y="3599282"/>
            <a:ext cx="1594986" cy="211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7F8"/>
              </a:buClr>
              <a:buSzPts val="1300"/>
              <a:buFont typeface="DM Sans Medium"/>
              <a:buNone/>
            </a:pPr>
            <a:r>
              <a:rPr b="0" i="0" lang="en-US" sz="1300" u="none" cap="none" strike="noStrike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Gerar dados</a:t>
            </a:r>
            <a:endParaRPr b="0" i="0" sz="1300" u="none" cap="none" strike="noStrike"/>
          </a:p>
        </p:txBody>
      </p:sp>
      <p:sp>
        <p:nvSpPr>
          <p:cNvPr id="149" name="Google Shape;149;p19"/>
          <p:cNvSpPr/>
          <p:nvPr/>
        </p:nvSpPr>
        <p:spPr>
          <a:xfrm>
            <a:off x="1996800" y="3870495"/>
            <a:ext cx="1366386" cy="303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Usar numpy para criar arrays</a:t>
            </a:r>
            <a:endParaRPr b="0" i="0" sz="1050" u="none" cap="none" strike="noStrike"/>
          </a:p>
        </p:txBody>
      </p:sp>
      <p:sp>
        <p:nvSpPr>
          <p:cNvPr id="150" name="Google Shape;150;p19"/>
          <p:cNvSpPr/>
          <p:nvPr/>
        </p:nvSpPr>
        <p:spPr>
          <a:xfrm>
            <a:off x="5833190" y="3335577"/>
            <a:ext cx="1366386" cy="42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7F8"/>
              </a:buClr>
              <a:buSzPts val="1300"/>
              <a:buFont typeface="DM Sans Medium"/>
              <a:buNone/>
            </a:pPr>
            <a:r>
              <a:rPr b="0" i="0" lang="en-US" sz="1300" u="none" cap="none" strike="noStrike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Adicionar legenda</a:t>
            </a:r>
            <a:endParaRPr b="0" i="0" sz="1300" u="none" cap="none" strike="noStrike"/>
          </a:p>
        </p:txBody>
      </p:sp>
      <p:sp>
        <p:nvSpPr>
          <p:cNvPr id="151" name="Google Shape;151;p19"/>
          <p:cNvSpPr/>
          <p:nvPr/>
        </p:nvSpPr>
        <p:spPr>
          <a:xfrm>
            <a:off x="5833190" y="3817942"/>
            <a:ext cx="1366386" cy="303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Incluir rótulos explicativos claros</a:t>
            </a:r>
            <a:endParaRPr b="0" i="0" sz="1050" u="none" cap="none" strike="noStrike"/>
          </a:p>
        </p:txBody>
      </p:sp>
      <p:sp>
        <p:nvSpPr>
          <p:cNvPr id="152" name="Google Shape;152;p19"/>
          <p:cNvSpPr/>
          <p:nvPr/>
        </p:nvSpPr>
        <p:spPr>
          <a:xfrm>
            <a:off x="3697657" y="1486124"/>
            <a:ext cx="1594985" cy="211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7F8"/>
              </a:buClr>
              <a:buSzPts val="1300"/>
              <a:buFont typeface="DM Sans Medium"/>
              <a:buNone/>
            </a:pPr>
            <a:r>
              <a:rPr b="0" i="0" lang="en-US" sz="1300" u="none" cap="none" strike="noStrike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Configurar linha</a:t>
            </a:r>
            <a:endParaRPr b="0" i="0" sz="1300" u="none" cap="none" strike="noStrike"/>
          </a:p>
        </p:txBody>
      </p:sp>
      <p:sp>
        <p:nvSpPr>
          <p:cNvPr id="153" name="Google Shape;153;p19"/>
          <p:cNvSpPr/>
          <p:nvPr/>
        </p:nvSpPr>
        <p:spPr>
          <a:xfrm>
            <a:off x="3926257" y="1757336"/>
            <a:ext cx="1366385" cy="30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Definir marcadores, cores e estilo</a:t>
            </a:r>
            <a:endParaRPr b="0" i="0" sz="1050" u="none" cap="none" strike="noStrike"/>
          </a:p>
        </p:txBody>
      </p:sp>
      <p:sp>
        <p:nvSpPr>
          <p:cNvPr id="154" name="Google Shape;154;p19"/>
          <p:cNvSpPr/>
          <p:nvPr/>
        </p:nvSpPr>
        <p:spPr>
          <a:xfrm>
            <a:off x="674489" y="4650284"/>
            <a:ext cx="8252147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Essa integração permite converter grandes volumes de dados científicos em tendências visuais com altíssima performance.</a:t>
            </a:r>
            <a:endParaRPr b="0" i="0" sz="8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213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/>
          <p:nvPr/>
        </p:nvSpPr>
        <p:spPr>
          <a:xfrm>
            <a:off x="496119" y="1295028"/>
            <a:ext cx="534560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7F8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Explorando Novos Horizontes</a:t>
            </a:r>
            <a:endParaRPr b="0" i="0" sz="2750" u="none" cap="none" strike="noStrike"/>
          </a:p>
        </p:txBody>
      </p:sp>
      <p:sp>
        <p:nvSpPr>
          <p:cNvPr id="161" name="Google Shape;161;p20"/>
          <p:cNvSpPr/>
          <p:nvPr/>
        </p:nvSpPr>
        <p:spPr>
          <a:xfrm>
            <a:off x="496119" y="2021532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 biblioteca vai muito além das linhas simples, oferecendo uma vasta gama de representações visuais.</a:t>
            </a:r>
            <a:endParaRPr b="0" i="0" sz="1100" u="none" cap="none" strike="noStrike"/>
          </a:p>
        </p:txBody>
      </p:sp>
      <p:pic>
        <p:nvPicPr>
          <p:cNvPr descr="preencoded.png" id="162" name="Google Shape;1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407816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/>
          <p:nvPr/>
        </p:nvSpPr>
        <p:spPr>
          <a:xfrm>
            <a:off x="1027658" y="240781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Gráficos de Barras</a:t>
            </a:r>
            <a:endParaRPr b="0" i="0" sz="1350" u="none" cap="none" strike="noStrike"/>
          </a:p>
        </p:txBody>
      </p:sp>
      <p:sp>
        <p:nvSpPr>
          <p:cNvPr id="164" name="Google Shape;164;p20"/>
          <p:cNvSpPr/>
          <p:nvPr/>
        </p:nvSpPr>
        <p:spPr>
          <a:xfrm>
            <a:off x="1027658" y="2714327"/>
            <a:ext cx="2067595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Ideais para comparar quantidades categóricas e ilustrar distribuições discretas de forma clara.</a:t>
            </a:r>
            <a:endParaRPr b="0" i="0" sz="1100" u="none" cap="none" strike="noStrike"/>
          </a:p>
        </p:txBody>
      </p:sp>
      <p:pic>
        <p:nvPicPr>
          <p:cNvPr descr="preencoded.png" id="165" name="Google Shape;16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2433" y="2407816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/>
          <p:nvPr/>
        </p:nvSpPr>
        <p:spPr>
          <a:xfrm>
            <a:off x="3803972" y="240781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Dispersão (Scatter)</a:t>
            </a:r>
            <a:endParaRPr b="0" i="0" sz="1350" u="none" cap="none" strike="noStrike"/>
          </a:p>
        </p:txBody>
      </p:sp>
      <p:sp>
        <p:nvSpPr>
          <p:cNvPr id="167" name="Google Shape;167;p20"/>
          <p:cNvSpPr/>
          <p:nvPr/>
        </p:nvSpPr>
        <p:spPr>
          <a:xfrm>
            <a:off x="3803972" y="2714327"/>
            <a:ext cx="2067595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Essencial para mapear correlações e identificar agrupamentos (clusters) entre duas variáveis contínuas.</a:t>
            </a:r>
            <a:endParaRPr b="0" i="0" sz="1100" u="none" cap="none" strike="noStrike"/>
          </a:p>
        </p:txBody>
      </p:sp>
      <p:pic>
        <p:nvPicPr>
          <p:cNvPr descr="preencoded.png" id="168" name="Google Shape;16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8747" y="2407816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/>
          <p:nvPr/>
        </p:nvSpPr>
        <p:spPr>
          <a:xfrm>
            <a:off x="6580287" y="240781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Superfícies e 3D</a:t>
            </a:r>
            <a:endParaRPr b="0" i="0" sz="1350" u="none" cap="none" strike="noStrike"/>
          </a:p>
        </p:txBody>
      </p:sp>
      <p:sp>
        <p:nvSpPr>
          <p:cNvPr id="170" name="Google Shape;170;p20"/>
          <p:cNvSpPr/>
          <p:nvPr/>
        </p:nvSpPr>
        <p:spPr>
          <a:xfrm>
            <a:off x="6580287" y="2714327"/>
            <a:ext cx="2067595" cy="1134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Perfeito para adicionar uma terceira dimensão de profundidade em dados espaciais ou fórmulas matemáticas.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213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/>
          <p:nvPr/>
        </p:nvSpPr>
        <p:spPr>
          <a:xfrm>
            <a:off x="496119" y="770334"/>
            <a:ext cx="4478536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7F8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 Ciência da Publicação</a:t>
            </a:r>
            <a:endParaRPr b="0" i="0" sz="2750" u="none" cap="none" strike="noStrike"/>
          </a:p>
        </p:txBody>
      </p:sp>
      <p:sp>
        <p:nvSpPr>
          <p:cNvPr id="177" name="Google Shape;177;p21"/>
          <p:cNvSpPr/>
          <p:nvPr/>
        </p:nvSpPr>
        <p:spPr>
          <a:xfrm>
            <a:off x="496119" y="1917874"/>
            <a:ext cx="517758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Gerar visualizações profissionais exige atenção aos detalhes técnicos e de formatação.</a:t>
            </a:r>
            <a:endParaRPr b="0" i="0" sz="1100" u="none" cap="none" strike="noStrike"/>
          </a:p>
        </p:txBody>
      </p:sp>
      <p:sp>
        <p:nvSpPr>
          <p:cNvPr id="178" name="Google Shape;178;p21"/>
          <p:cNvSpPr/>
          <p:nvPr/>
        </p:nvSpPr>
        <p:spPr>
          <a:xfrm>
            <a:off x="496119" y="2499047"/>
            <a:ext cx="5177582" cy="1460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Formatos Vetoriais: Exporte em PDF ou SVG para garantir nitidez infinita em artigos e relatórios.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Estilo Acadêmico: Controle o tamanho exato das fontes e use o renderizador LaTeX para fórmulas.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Interatividade: Use o modo interativo no Jupyter para explorar seus dados dinamicamente com zoom e pan.</a:t>
            </a:r>
            <a:endParaRPr b="0" i="0" sz="1100" u="none" cap="none" strike="noStrike"/>
          </a:p>
        </p:txBody>
      </p:sp>
      <p:pic>
        <p:nvPicPr>
          <p:cNvPr descr="preencoded.png" id="179" name="Google Shape;1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4339" y="1585392"/>
            <a:ext cx="2628230" cy="2628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213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4C50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6" name="Google Shape;18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5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2"/>
          <p:cNvSpPr/>
          <p:nvPr/>
        </p:nvSpPr>
        <p:spPr>
          <a:xfrm>
            <a:off x="496119" y="822871"/>
            <a:ext cx="5155704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7F8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 Poder Está nas Suas Mãos</a:t>
            </a:r>
            <a:endParaRPr b="0" i="0" sz="2750" u="none" cap="none" strike="noStrike"/>
          </a:p>
        </p:txBody>
      </p:sp>
      <p:sp>
        <p:nvSpPr>
          <p:cNvPr id="188" name="Google Shape;188;p22"/>
          <p:cNvSpPr/>
          <p:nvPr/>
        </p:nvSpPr>
        <p:spPr>
          <a:xfrm>
            <a:off x="496119" y="1478459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Mais do que desenhar linhas, o Matplotlib é o canal que conecta a análise fria de dados à intuição humana.</a:t>
            </a:r>
            <a:endParaRPr b="0" i="0" sz="1100" u="none" cap="none" strike="noStrike"/>
          </a:p>
        </p:txBody>
      </p:sp>
      <p:sp>
        <p:nvSpPr>
          <p:cNvPr id="189" name="Google Shape;189;p22"/>
          <p:cNvSpPr/>
          <p:nvPr/>
        </p:nvSpPr>
        <p:spPr>
          <a:xfrm>
            <a:off x="496119" y="2091556"/>
            <a:ext cx="4722763" cy="1043657"/>
          </a:xfrm>
          <a:prstGeom prst="roundRect">
            <a:avLst>
              <a:gd fmla="val 2038" name="adj"/>
            </a:avLst>
          </a:prstGeom>
          <a:solidFill>
            <a:srgbClr val="4C50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637877" y="2233315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Exploração</a:t>
            </a:r>
            <a:endParaRPr b="0" i="0" sz="1350" u="none" cap="none" strike="noStrike"/>
          </a:p>
        </p:txBody>
      </p:sp>
      <p:sp>
        <p:nvSpPr>
          <p:cNvPr id="191" name="Google Shape;191;p22"/>
          <p:cNvSpPr/>
          <p:nvPr/>
        </p:nvSpPr>
        <p:spPr>
          <a:xfrm>
            <a:off x="637877" y="2539826"/>
            <a:ext cx="443924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Gere ideias rápidas e entenda seus conjuntos de dados em segundos.</a:t>
            </a:r>
            <a:endParaRPr b="0" i="0" sz="1100" u="none" cap="none" strike="noStrike"/>
          </a:p>
        </p:txBody>
      </p:sp>
      <p:sp>
        <p:nvSpPr>
          <p:cNvPr id="192" name="Google Shape;192;p22"/>
          <p:cNvSpPr/>
          <p:nvPr/>
        </p:nvSpPr>
        <p:spPr>
          <a:xfrm>
            <a:off x="496119" y="3276972"/>
            <a:ext cx="4722763" cy="1043657"/>
          </a:xfrm>
          <a:prstGeom prst="roundRect">
            <a:avLst>
              <a:gd fmla="val 2038" name="adj"/>
            </a:avLst>
          </a:prstGeom>
          <a:solidFill>
            <a:srgbClr val="4C50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637877" y="3418731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Apresentação</a:t>
            </a:r>
            <a:endParaRPr b="0" i="0" sz="1350" u="none" cap="none" strike="noStrike"/>
          </a:p>
        </p:txBody>
      </p:sp>
      <p:sp>
        <p:nvSpPr>
          <p:cNvPr id="194" name="Google Shape;194;p22"/>
          <p:cNvSpPr/>
          <p:nvPr/>
        </p:nvSpPr>
        <p:spPr>
          <a:xfrm>
            <a:off x="637877" y="3725242"/>
            <a:ext cx="443924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Refine seus gráficos e conte histórias memoráveis para o público corporativo ou acadêmico.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