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Alexandria SemiBold"/>
      <p:regular r:id="rId17"/>
    </p:embeddedFont>
    <p:embeddedFont>
      <p:font typeface="Alexandria Bold"/>
      <p:regular r:id="rId18"/>
    </p:embeddedFont>
    <p:embeddedFont>
      <p:font typeface="Sora Light"/>
      <p:regular r:id="rId19"/>
    </p:embeddedFont>
    <p:embeddedFont>
      <p:font typeface="Sora Bold"/>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sp>
      <p:sp>
        <p:nvSpPr>
          <p:cNvPr id="3" name="Shape 1"/>
          <p:cNvSpPr/>
          <p:nvPr/>
        </p:nvSpPr>
        <p:spPr>
          <a:xfrm>
            <a:off x="0" y="0"/>
            <a:ext cx="9144000" cy="51435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sp>
      <p:sp>
        <p:nvSpPr>
          <p:cNvPr id="3" name="Shape 1"/>
          <p:cNvSpPr/>
          <p:nvPr/>
        </p:nvSpPr>
        <p:spPr>
          <a:xfrm>
            <a:off x="0" y="0"/>
            <a:ext cx="9144000" cy="51435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sp>
      <p:sp>
        <p:nvSpPr>
          <p:cNvPr id="3" name="Shape 1"/>
          <p:cNvSpPr/>
          <p:nvPr/>
        </p:nvSpPr>
        <p:spPr>
          <a:xfrm>
            <a:off x="0" y="0"/>
            <a:ext cx="9144000" cy="51435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sp>
      <p:sp>
        <p:nvSpPr>
          <p:cNvPr id="3" name="Shape 1"/>
          <p:cNvSpPr/>
          <p:nvPr/>
        </p:nvSpPr>
        <p:spPr>
          <a:xfrm>
            <a:off x="0" y="0"/>
            <a:ext cx="9144000" cy="51435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sp>
      <p:sp>
        <p:nvSpPr>
          <p:cNvPr id="3" name="Shape 1"/>
          <p:cNvSpPr/>
          <p:nvPr/>
        </p:nvSpPr>
        <p:spPr>
          <a:xfrm>
            <a:off x="0" y="0"/>
            <a:ext cx="9144000" cy="51435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sp>
      <p:sp>
        <p:nvSpPr>
          <p:cNvPr id="3" name="Shape 1"/>
          <p:cNvSpPr/>
          <p:nvPr/>
        </p:nvSpPr>
        <p:spPr>
          <a:xfrm>
            <a:off x="0" y="0"/>
            <a:ext cx="9144000" cy="51435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sp>
      <p:sp>
        <p:nvSpPr>
          <p:cNvPr id="3" name="Shape 1"/>
          <p:cNvSpPr/>
          <p:nvPr/>
        </p:nvSpPr>
        <p:spPr>
          <a:xfrm>
            <a:off x="0" y="0"/>
            <a:ext cx="9144000" cy="51435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sp>
      <p:sp>
        <p:nvSpPr>
          <p:cNvPr id="3" name="Shape 1"/>
          <p:cNvSpPr/>
          <p:nvPr/>
        </p:nvSpPr>
        <p:spPr>
          <a:xfrm>
            <a:off x="0" y="0"/>
            <a:ext cx="9144000" cy="51435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sp>
      <p:sp>
        <p:nvSpPr>
          <p:cNvPr id="3" name="Shape 1"/>
          <p:cNvSpPr/>
          <p:nvPr/>
        </p:nvSpPr>
        <p:spPr>
          <a:xfrm>
            <a:off x="0" y="0"/>
            <a:ext cx="9144000" cy="51435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sp>
      <p:sp>
        <p:nvSpPr>
          <p:cNvPr id="3" name="Shape 1"/>
          <p:cNvSpPr/>
          <p:nvPr/>
        </p:nvSpPr>
        <p:spPr>
          <a:xfrm>
            <a:off x="0" y="0"/>
            <a:ext cx="9144000" cy="5143500"/>
          </a:xfrm>
          <a:prstGeom prst="rect">
            <a:avLst/>
          </a:prstGeom>
          <a:solidFill>
            <a:srgbClr val="FFFAFA"/>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10.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slideLayout" Target="../slideLayouts/slideLayout1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02943" y="1626171"/>
            <a:ext cx="4767114" cy="779413"/>
          </a:xfrm>
          <a:prstGeom prst="rect">
            <a:avLst/>
          </a:prstGeom>
          <a:noFill/>
          <a:ln/>
        </p:spPr>
        <p:txBody>
          <a:bodyPr wrap="square" lIns="0" tIns="0" rIns="0" bIns="0" rtlCol="0" anchor="t">
            <a:normAutofit/>
          </a:bodyPr>
          <a:lstStyle/>
          <a:p>
            <a:pPr algn="l" indent="0" marL="0">
              <a:lnSpc>
                <a:spcPct val="104000"/>
              </a:lnSpc>
              <a:buNone/>
            </a:pPr>
            <a:r>
              <a:rPr lang="en-US" sz="2450" dirty="0">
                <a:solidFill>
                  <a:srgbClr val="1F1E1E"/>
                </a:solidFill>
                <a:latin typeface="Alexandria SemiBold" pitchFamily="34" charset="0"/>
                <a:ea typeface="Alexandria SemiBold" pitchFamily="34" charset="-122"/>
                <a:cs typeface="Alexandria SemiBold" pitchFamily="34" charset="-120"/>
              </a:rPr>
              <a:t>Docker Model Runner: IA Local Sem Complicação</a:t>
            </a:r>
            <a:endParaRPr lang="en-US" sz="2450" dirty="0"/>
          </a:p>
        </p:txBody>
      </p:sp>
      <p:sp>
        <p:nvSpPr>
          <p:cNvPr id="4" name="Text 1"/>
          <p:cNvSpPr/>
          <p:nvPr/>
        </p:nvSpPr>
        <p:spPr>
          <a:xfrm>
            <a:off x="3902943" y="2583284"/>
            <a:ext cx="4767114" cy="56859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Uma introdução técnica ao Docker Model Runner — a ferramenta que integra modelos de inteligência artificial ao ecossistema Docker, permitindo execução local, privada e eficiente de LLMs e modelos generativos.</a:t>
            </a:r>
            <a:endParaRPr lang="en-US" sz="900" dirty="0"/>
          </a:p>
        </p:txBody>
      </p:sp>
      <p:sp>
        <p:nvSpPr>
          <p:cNvPr id="5" name="Shape 2"/>
          <p:cNvSpPr/>
          <p:nvPr/>
        </p:nvSpPr>
        <p:spPr>
          <a:xfrm>
            <a:off x="3902943" y="3289920"/>
            <a:ext cx="593154" cy="222647"/>
          </a:xfrm>
          <a:prstGeom prst="roundRect">
            <a:avLst>
              <a:gd name="adj" fmla="val 17881"/>
            </a:avLst>
          </a:prstGeom>
          <a:solidFill>
            <a:srgbClr val="D5DCF6"/>
          </a:solidFill>
          <a:ln/>
        </p:spPr>
      </p:sp>
      <p:sp>
        <p:nvSpPr>
          <p:cNvPr id="6" name="Text 3"/>
          <p:cNvSpPr/>
          <p:nvPr/>
        </p:nvSpPr>
        <p:spPr>
          <a:xfrm>
            <a:off x="3974009" y="3325416"/>
            <a:ext cx="908224" cy="151656"/>
          </a:xfrm>
          <a:prstGeom prst="rect">
            <a:avLst/>
          </a:prstGeom>
          <a:noFill/>
          <a:ln/>
        </p:spPr>
        <p:txBody>
          <a:bodyPr wrap="none" lIns="0" tIns="0" rIns="0" bIns="0" rtlCol="0" anchor="t"/>
          <a:lstStyle/>
          <a:p>
            <a:pPr algn="l" indent="0" marL="0">
              <a:lnSpc>
                <a:spcPct val="133000"/>
              </a:lnSpc>
              <a:buNone/>
            </a:pPr>
            <a:r>
              <a:rPr lang="en-US" sz="700" dirty="0">
                <a:solidFill>
                  <a:srgbClr val="3B3535"/>
                </a:solidFill>
                <a:latin typeface="Sora Light" pitchFamily="34" charset="0"/>
                <a:ea typeface="Sora Light" pitchFamily="34" charset="-122"/>
                <a:cs typeface="Sora Light" pitchFamily="34" charset="-120"/>
              </a:rPr>
              <a:t>IA LOCAL</a:t>
            </a:r>
            <a:endParaRPr lang="en-US" sz="700" dirty="0"/>
          </a:p>
        </p:txBody>
      </p:sp>
      <p:sp>
        <p:nvSpPr>
          <p:cNvPr id="7" name="Shape 4"/>
          <p:cNvSpPr/>
          <p:nvPr/>
        </p:nvSpPr>
        <p:spPr>
          <a:xfrm>
            <a:off x="4555331" y="3285158"/>
            <a:ext cx="568896" cy="232172"/>
          </a:xfrm>
          <a:prstGeom prst="roundRect">
            <a:avLst>
              <a:gd name="adj" fmla="val 17147"/>
            </a:avLst>
          </a:prstGeom>
          <a:noFill/>
          <a:ln w="4763">
            <a:solidFill>
              <a:srgbClr val="1A2D7A"/>
            </a:solidFill>
            <a:prstDash val="solid"/>
          </a:ln>
        </p:spPr>
      </p:sp>
      <p:sp>
        <p:nvSpPr>
          <p:cNvPr id="8" name="Text 5"/>
          <p:cNvSpPr/>
          <p:nvPr/>
        </p:nvSpPr>
        <p:spPr>
          <a:xfrm>
            <a:off x="4631159" y="3325416"/>
            <a:ext cx="874440" cy="151656"/>
          </a:xfrm>
          <a:prstGeom prst="rect">
            <a:avLst/>
          </a:prstGeom>
          <a:noFill/>
          <a:ln/>
        </p:spPr>
        <p:txBody>
          <a:bodyPr wrap="none" lIns="0" tIns="0" rIns="0" bIns="0" rtlCol="0" anchor="t"/>
          <a:lstStyle/>
          <a:p>
            <a:pPr algn="l" indent="0" marL="0">
              <a:lnSpc>
                <a:spcPct val="133000"/>
              </a:lnSpc>
              <a:buNone/>
            </a:pPr>
            <a:r>
              <a:rPr lang="en-US" sz="700" dirty="0">
                <a:solidFill>
                  <a:srgbClr val="1A2D7A"/>
                </a:solidFill>
                <a:latin typeface="Sora Light" pitchFamily="34" charset="0"/>
                <a:ea typeface="Sora Light" pitchFamily="34" charset="-122"/>
                <a:cs typeface="Sora Light" pitchFamily="34" charset="-120"/>
              </a:rPr>
              <a:t>DOCKER</a:t>
            </a:r>
            <a:endParaRPr lang="en-US" sz="700" dirty="0"/>
          </a:p>
        </p:txBody>
      </p:sp>
      <p:sp>
        <p:nvSpPr>
          <p:cNvPr id="9" name="Shape 6"/>
          <p:cNvSpPr/>
          <p:nvPr/>
        </p:nvSpPr>
        <p:spPr>
          <a:xfrm>
            <a:off x="5183460" y="3285158"/>
            <a:ext cx="396106" cy="232172"/>
          </a:xfrm>
          <a:prstGeom prst="roundRect">
            <a:avLst>
              <a:gd name="adj" fmla="val 17147"/>
            </a:avLst>
          </a:prstGeom>
          <a:noFill/>
          <a:ln w="4763">
            <a:solidFill>
              <a:srgbClr val="1A2D7A"/>
            </a:solidFill>
            <a:prstDash val="solid"/>
          </a:ln>
        </p:spPr>
      </p:sp>
      <p:sp>
        <p:nvSpPr>
          <p:cNvPr id="10" name="Text 7"/>
          <p:cNvSpPr/>
          <p:nvPr/>
        </p:nvSpPr>
        <p:spPr>
          <a:xfrm>
            <a:off x="5259288" y="3325416"/>
            <a:ext cx="701650" cy="151656"/>
          </a:xfrm>
          <a:prstGeom prst="rect">
            <a:avLst/>
          </a:prstGeom>
          <a:noFill/>
          <a:ln/>
        </p:spPr>
        <p:txBody>
          <a:bodyPr wrap="none" lIns="0" tIns="0" rIns="0" bIns="0" rtlCol="0" anchor="t"/>
          <a:lstStyle/>
          <a:p>
            <a:pPr algn="l" indent="0" marL="0">
              <a:lnSpc>
                <a:spcPct val="133000"/>
              </a:lnSpc>
              <a:buNone/>
            </a:pPr>
            <a:r>
              <a:rPr lang="en-US" sz="700" dirty="0">
                <a:solidFill>
                  <a:srgbClr val="1A2D7A"/>
                </a:solidFill>
                <a:latin typeface="Sora Light" pitchFamily="34" charset="0"/>
                <a:ea typeface="Sora Light" pitchFamily="34" charset="-122"/>
                <a:cs typeface="Sora Light" pitchFamily="34" charset="-120"/>
              </a:rPr>
              <a:t>2025</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73943" y="1167929"/>
            <a:ext cx="4148286" cy="389706"/>
          </a:xfrm>
          <a:prstGeom prst="rect">
            <a:avLst/>
          </a:prstGeom>
          <a:noFill/>
          <a:ln/>
        </p:spPr>
        <p:txBody>
          <a:bodyPr wrap="none" lIns="0" tIns="0" rIns="0" bIns="0" rtlCol="0" anchor="t"/>
          <a:lstStyle/>
          <a:p>
            <a:pPr algn="l" indent="0" marL="0">
              <a:lnSpc>
                <a:spcPct val="104000"/>
              </a:lnSpc>
              <a:buNone/>
            </a:pPr>
            <a:r>
              <a:rPr lang="en-US" sz="2450" dirty="0">
                <a:solidFill>
                  <a:srgbClr val="1F1E1E"/>
                </a:solidFill>
                <a:latin typeface="Alexandria SemiBold" pitchFamily="34" charset="0"/>
                <a:ea typeface="Alexandria SemiBold" pitchFamily="34" charset="-122"/>
                <a:cs typeface="Alexandria SemiBold" pitchFamily="34" charset="-120"/>
              </a:rPr>
              <a:t>O Problema da IA Local</a:t>
            </a:r>
            <a:endParaRPr lang="en-US" sz="2450" dirty="0"/>
          </a:p>
        </p:txBody>
      </p:sp>
      <p:sp>
        <p:nvSpPr>
          <p:cNvPr id="3" name="Text 1"/>
          <p:cNvSpPr/>
          <p:nvPr/>
        </p:nvSpPr>
        <p:spPr>
          <a:xfrm>
            <a:off x="473943" y="1794570"/>
            <a:ext cx="8196114" cy="56859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Executar modelos de inteligência artificial em ambientes locais ainda representa um desafio significativo para desenvolvedores e pesquisadores. A configuração manual de dependências, a fragmentação de hardware e a desconexão entre ferramentas de IA e fluxos de trabalho baseados em containers criam barreiras que retardam a inovação.</a:t>
            </a:r>
            <a:endParaRPr lang="en-US" sz="9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9656" y="2496443"/>
            <a:ext cx="2667298" cy="1479054"/>
          </a:xfrm>
          <a:prstGeom prst="rect">
            <a:avLst/>
          </a:prstGeom>
        </p:spPr>
      </p:pic>
      <p:sp>
        <p:nvSpPr>
          <p:cNvPr id="5" name="Text 2"/>
          <p:cNvSpPr/>
          <p:nvPr/>
        </p:nvSpPr>
        <p:spPr>
          <a:xfrm>
            <a:off x="649560" y="2629198"/>
            <a:ext cx="2059707"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Inferno das Dependências</a:t>
            </a:r>
            <a:endParaRPr lang="en-US" sz="1200" dirty="0"/>
          </a:p>
        </p:txBody>
      </p:sp>
      <p:sp>
        <p:nvSpPr>
          <p:cNvPr id="6" name="Text 3"/>
          <p:cNvSpPr/>
          <p:nvPr/>
        </p:nvSpPr>
        <p:spPr>
          <a:xfrm>
            <a:off x="649560" y="2895079"/>
            <a:ext cx="2344638" cy="947663"/>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Configurar manualmente Python, PyTorch, CUDA e drivers específicos para cada projeto consome horas de trabalho e gera conflitos frequentes entre ambientes de desenvolvimento.</a:t>
            </a:r>
            <a:endParaRPr lang="en-US" sz="9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31133" y="2496443"/>
            <a:ext cx="2667372" cy="1479054"/>
          </a:xfrm>
          <a:prstGeom prst="rect">
            <a:avLst/>
          </a:prstGeom>
        </p:spPr>
      </p:pic>
      <p:sp>
        <p:nvSpPr>
          <p:cNvPr id="8" name="Text 4"/>
          <p:cNvSpPr/>
          <p:nvPr/>
        </p:nvSpPr>
        <p:spPr>
          <a:xfrm>
            <a:off x="3421038" y="2629198"/>
            <a:ext cx="1893615"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Hardware Fragmentado</a:t>
            </a:r>
            <a:endParaRPr lang="en-US" sz="1200" dirty="0"/>
          </a:p>
        </p:txBody>
      </p:sp>
      <p:sp>
        <p:nvSpPr>
          <p:cNvPr id="9" name="Text 5"/>
          <p:cNvSpPr/>
          <p:nvPr/>
        </p:nvSpPr>
        <p:spPr>
          <a:xfrm>
            <a:off x="3421038" y="2895079"/>
            <a:ext cx="2344713" cy="947663"/>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Diferenças entre GPUs, CPUs e sistemas operacionais criam incompatibilidades que tornam a replicação de ambientes um processo complexo e propenso a erros.</a:t>
            </a:r>
            <a:endParaRPr lang="en-US" sz="9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02685" y="2496443"/>
            <a:ext cx="2667298" cy="1479054"/>
          </a:xfrm>
          <a:prstGeom prst="rect">
            <a:avLst/>
          </a:prstGeom>
        </p:spPr>
      </p:pic>
      <p:sp>
        <p:nvSpPr>
          <p:cNvPr id="11" name="Text 6"/>
          <p:cNvSpPr/>
          <p:nvPr/>
        </p:nvSpPr>
        <p:spPr>
          <a:xfrm>
            <a:off x="6192589" y="2629198"/>
            <a:ext cx="1752228"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Fluxos Desconectados</a:t>
            </a:r>
            <a:endParaRPr lang="en-US" sz="1200" dirty="0"/>
          </a:p>
        </p:txBody>
      </p:sp>
      <p:sp>
        <p:nvSpPr>
          <p:cNvPr id="12" name="Text 7"/>
          <p:cNvSpPr/>
          <p:nvPr/>
        </p:nvSpPr>
        <p:spPr>
          <a:xfrm>
            <a:off x="6192589" y="2895079"/>
            <a:ext cx="2344638" cy="947663"/>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A infraestrutura de IA tradicional não foi projetada para operar nativamente com containers, gerando atrito entre equipes de desenvolvimento e operações.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73943" y="753963"/>
            <a:ext cx="6662589" cy="389706"/>
          </a:xfrm>
          <a:prstGeom prst="rect">
            <a:avLst/>
          </a:prstGeom>
          <a:noFill/>
          <a:ln/>
        </p:spPr>
        <p:txBody>
          <a:bodyPr wrap="none" lIns="0" tIns="0" rIns="0" bIns="0" rtlCol="0" anchor="t"/>
          <a:lstStyle/>
          <a:p>
            <a:pPr algn="l" indent="0" marL="0">
              <a:lnSpc>
                <a:spcPct val="104000"/>
              </a:lnSpc>
              <a:buNone/>
            </a:pPr>
            <a:r>
              <a:rPr lang="en-US" sz="2450" dirty="0">
                <a:solidFill>
                  <a:srgbClr val="1F1E1E"/>
                </a:solidFill>
                <a:latin typeface="Alexandria SemiBold" pitchFamily="34" charset="0"/>
                <a:ea typeface="Alexandria SemiBold" pitchFamily="34" charset="-122"/>
                <a:cs typeface="Alexandria SemiBold" pitchFamily="34" charset="-120"/>
              </a:rPr>
              <a:t>O que é o Docker Model Runner (DMR)?</a:t>
            </a:r>
            <a:endParaRPr lang="en-US" sz="2450" dirty="0"/>
          </a:p>
        </p:txBody>
      </p:sp>
      <p:sp>
        <p:nvSpPr>
          <p:cNvPr id="3" name="Text 1"/>
          <p:cNvSpPr/>
          <p:nvPr/>
        </p:nvSpPr>
        <p:spPr>
          <a:xfrm>
            <a:off x="473943" y="1428006"/>
            <a:ext cx="4377779" cy="1812429"/>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Introduzido pelo Docker em 2025, o </a:t>
            </a:r>
            <a:pPr algn="l" indent="0" marL="0">
              <a:lnSpc>
                <a:spcPct val="133000"/>
              </a:lnSpc>
              <a:buNone/>
            </a:pPr>
            <a:r>
              <a:rPr lang="en-US" sz="900" b="1" dirty="0">
                <a:solidFill>
                  <a:srgbClr val="3B3535"/>
                </a:solidFill>
                <a:latin typeface="Sora Light" pitchFamily="34" charset="0"/>
                <a:ea typeface="Sora Light" pitchFamily="34" charset="-122"/>
                <a:cs typeface="Sora Light" pitchFamily="34" charset="-120"/>
              </a:rPr>
              <a:t>Docker Model Runner (DMR)</a:t>
            </a:r>
            <a:pPr algn="l" indent="0" marL="0">
              <a:lnSpc>
                <a:spcPct val="133000"/>
              </a:lnSpc>
              <a:spcAft>
                <a:spcPts val="800"/>
              </a:spcAft>
              <a:buNone/>
            </a:pPr>
            <a:r>
              <a:rPr lang="en-US" sz="900" dirty="0">
                <a:solidFill>
                  <a:srgbClr val="3B3535"/>
                </a:solidFill>
                <a:latin typeface="Sora Light" pitchFamily="34" charset="0"/>
                <a:ea typeface="Sora Light" pitchFamily="34" charset="-122"/>
                <a:cs typeface="Sora Light" pitchFamily="34" charset="-120"/>
              </a:rPr>
              <a:t> é uma solução integrada ao Docker Desktop que simplifica radicalmente a execução de modelos de IA em ambientes locais. A ferramenta abstrai a complexidade de configuração e gerenciamento de modelos, tratando-os como artefatos nativos do ecossistema Docker.</a:t>
            </a:r>
            <a:endParaRPr lang="en-US" sz="900" dirty="0"/>
          </a:p>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O DMR é construído sobre motores de inferência consolidados, como </a:t>
            </a:r>
            <a:pPr algn="l" indent="0" marL="0">
              <a:lnSpc>
                <a:spcPct val="133000"/>
              </a:lnSpc>
              <a:buNone/>
            </a:pPr>
            <a:r>
              <a:rPr lang="en-US" sz="900" b="1" dirty="0">
                <a:solidFill>
                  <a:srgbClr val="3B3535"/>
                </a:solidFill>
                <a:latin typeface="Sora Light" pitchFamily="34" charset="0"/>
                <a:ea typeface="Sora Light" pitchFamily="34" charset="-122"/>
                <a:cs typeface="Sora Light" pitchFamily="34" charset="-120"/>
              </a:rPr>
              <a:t>llama.cpp</a:t>
            </a:r>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 </a:t>
            </a:r>
            <a:pPr algn="l" indent="0" marL="0">
              <a:lnSpc>
                <a:spcPct val="133000"/>
              </a:lnSpc>
              <a:buNone/>
            </a:pPr>
            <a:r>
              <a:rPr lang="en-US" sz="900" b="1" dirty="0">
                <a:solidFill>
                  <a:srgbClr val="3B3535"/>
                </a:solidFill>
                <a:latin typeface="Sora Light" pitchFamily="34" charset="0"/>
                <a:ea typeface="Sora Light" pitchFamily="34" charset="-122"/>
                <a:cs typeface="Sora Light" pitchFamily="34" charset="-120"/>
              </a:rPr>
              <a:t>vLLM</a:t>
            </a:r>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 e </a:t>
            </a:r>
            <a:pPr algn="l" indent="0" marL="0">
              <a:lnSpc>
                <a:spcPct val="133000"/>
              </a:lnSpc>
              <a:buNone/>
            </a:pPr>
            <a:r>
              <a:rPr lang="en-US" sz="900" b="1" dirty="0">
                <a:solidFill>
                  <a:srgbClr val="3B3535"/>
                </a:solidFill>
                <a:latin typeface="Sora Light" pitchFamily="34" charset="0"/>
                <a:ea typeface="Sora Light" pitchFamily="34" charset="-122"/>
                <a:cs typeface="Sora Light" pitchFamily="34" charset="-120"/>
              </a:rPr>
              <a:t>Diffusers</a:t>
            </a:r>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 permitindo que desenvolvedores escolham o motor mais adequado ao seu caso de uso sem se preocupar com a infraestrutura subjacente.</a:t>
            </a:r>
            <a:endParaRPr lang="en-US" sz="900" dirty="0"/>
          </a:p>
        </p:txBody>
      </p:sp>
      <p:sp>
        <p:nvSpPr>
          <p:cNvPr id="4" name="Shape 2"/>
          <p:cNvSpPr/>
          <p:nvPr/>
        </p:nvSpPr>
        <p:spPr>
          <a:xfrm>
            <a:off x="473943" y="3373710"/>
            <a:ext cx="4377779" cy="882551"/>
          </a:xfrm>
          <a:prstGeom prst="roundRect">
            <a:avLst>
              <a:gd name="adj" fmla="val 5639"/>
            </a:avLst>
          </a:prstGeom>
          <a:solidFill>
            <a:srgbClr val="B6D6FC"/>
          </a:solidFill>
          <a:ln/>
        </p:spPr>
      </p:sp>
      <p:pic>
        <p:nvPicPr>
          <p:cNvPr id="5" name="Image 0" descr="preencoded.png">    </p:cNvPr>
          <p:cNvPicPr>
            <a:picLocks noChangeAspect="1"/>
          </p:cNvPicPr>
          <p:nvPr/>
        </p:nvPicPr>
        <p:blipFill>
          <a:blip r:embed="rId1"/>
          <a:stretch>
            <a:fillRect/>
          </a:stretch>
        </p:blipFill>
        <p:spPr>
          <a:xfrm>
            <a:off x="592410" y="3551486"/>
            <a:ext cx="148084" cy="118467"/>
          </a:xfrm>
          <a:prstGeom prst="rect">
            <a:avLst/>
          </a:prstGeom>
        </p:spPr>
      </p:pic>
      <p:sp>
        <p:nvSpPr>
          <p:cNvPr id="6" name="Text 3"/>
          <p:cNvSpPr/>
          <p:nvPr/>
        </p:nvSpPr>
        <p:spPr>
          <a:xfrm>
            <a:off x="858962" y="3521794"/>
            <a:ext cx="3874294" cy="56859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000000"/>
                </a:solidFill>
                <a:latin typeface="Sora Light" pitchFamily="34" charset="0"/>
                <a:ea typeface="Sora Light" pitchFamily="34" charset="-122"/>
                <a:cs typeface="Sora Light" pitchFamily="34" charset="-120"/>
              </a:rPr>
              <a:t>Modelos são gerenciados como artefatos </a:t>
            </a:r>
            <a:pPr algn="l" indent="0" marL="0">
              <a:lnSpc>
                <a:spcPct val="133000"/>
              </a:lnSpc>
              <a:buNone/>
            </a:pPr>
            <a:r>
              <a:rPr lang="en-US" sz="900" b="1" dirty="0">
                <a:solidFill>
                  <a:srgbClr val="000000"/>
                </a:solidFill>
                <a:latin typeface="Sora Light" pitchFamily="34" charset="0"/>
                <a:ea typeface="Sora Light" pitchFamily="34" charset="-122"/>
                <a:cs typeface="Sora Light" pitchFamily="34" charset="-120"/>
              </a:rPr>
              <a:t>OCI</a:t>
            </a:r>
            <a:pPr algn="l" indent="0" marL="0">
              <a:lnSpc>
                <a:spcPct val="133000"/>
              </a:lnSpc>
              <a:buNone/>
            </a:pPr>
            <a:r>
              <a:rPr lang="en-US" sz="900" dirty="0">
                <a:solidFill>
                  <a:srgbClr val="000000"/>
                </a:solidFill>
                <a:latin typeface="Sora Light" pitchFamily="34" charset="0"/>
                <a:ea typeface="Sora Light" pitchFamily="34" charset="-122"/>
                <a:cs typeface="Sora Light" pitchFamily="34" charset="-120"/>
              </a:rPr>
              <a:t> (Open Container Initiative), o mesmo padrão utilizado para imagens Docker, integrando-se naturalmente ao fluxo de trabalho existente.</a:t>
            </a:r>
            <a:endParaRPr lang="en-US" sz="900" dirty="0"/>
          </a:p>
        </p:txBody>
      </p:sp>
      <p:sp>
        <p:nvSpPr>
          <p:cNvPr id="7" name="Shape 4"/>
          <p:cNvSpPr/>
          <p:nvPr/>
        </p:nvSpPr>
        <p:spPr>
          <a:xfrm>
            <a:off x="5060231" y="1321371"/>
            <a:ext cx="3699793" cy="3068166"/>
          </a:xfrm>
          <a:prstGeom prst="roundRect">
            <a:avLst>
              <a:gd name="adj" fmla="val 2781"/>
            </a:avLst>
          </a:prstGeom>
          <a:solidFill>
            <a:srgbClr val="1A2D7A"/>
          </a:solidFill>
          <a:ln/>
        </p:spPr>
      </p:sp>
      <p:sp>
        <p:nvSpPr>
          <p:cNvPr id="8" name="Text 5"/>
          <p:cNvSpPr/>
          <p:nvPr/>
        </p:nvSpPr>
        <p:spPr>
          <a:xfrm>
            <a:off x="5178698" y="1439838"/>
            <a:ext cx="2390552" cy="194816"/>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Alexandria SemiBold" pitchFamily="34" charset="0"/>
                <a:ea typeface="Alexandria SemiBold" pitchFamily="34" charset="-122"/>
                <a:cs typeface="Alexandria SemiBold" pitchFamily="34" charset="-120"/>
              </a:rPr>
              <a:t>Componentes Principais</a:t>
            </a:r>
            <a:endParaRPr lang="en-US" sz="1200" dirty="0"/>
          </a:p>
        </p:txBody>
      </p:sp>
      <p:sp>
        <p:nvSpPr>
          <p:cNvPr id="9" name="Text 6"/>
          <p:cNvSpPr/>
          <p:nvPr/>
        </p:nvSpPr>
        <p:spPr>
          <a:xfrm>
            <a:off x="5178698" y="1753121"/>
            <a:ext cx="3462858" cy="1113458"/>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900" dirty="0">
                <a:solidFill>
                  <a:srgbClr val="FFFFFF"/>
                </a:solidFill>
                <a:latin typeface="Sora Light" pitchFamily="34" charset="0"/>
                <a:ea typeface="Sora Light" pitchFamily="34" charset="-122"/>
                <a:cs typeface="Sora Light" pitchFamily="34" charset="-120"/>
              </a:rPr>
              <a:t>llama.cpp — inferência leve em CPU</a:t>
            </a:r>
            <a:endParaRPr lang="en-US" sz="900" dirty="0"/>
          </a:p>
          <a:p>
            <a:pPr algn="l" marL="342900" indent="-342900">
              <a:lnSpc>
                <a:spcPct val="133000"/>
              </a:lnSpc>
              <a:buSzPct val="100000"/>
              <a:buChar char="•"/>
            </a:pPr>
            <a:r>
              <a:rPr lang="en-US" sz="900" dirty="0">
                <a:solidFill>
                  <a:srgbClr val="FFFFFF"/>
                </a:solidFill>
                <a:latin typeface="Sora Light" pitchFamily="34" charset="0"/>
                <a:ea typeface="Sora Light" pitchFamily="34" charset="-122"/>
                <a:cs typeface="Sora Light" pitchFamily="34" charset="-120"/>
              </a:rPr>
              <a:t>vLLM — alta performance em GPU</a:t>
            </a:r>
            <a:endParaRPr lang="en-US" sz="900" dirty="0"/>
          </a:p>
          <a:p>
            <a:pPr algn="l" marL="342900" indent="-342900">
              <a:lnSpc>
                <a:spcPct val="133000"/>
              </a:lnSpc>
              <a:buSzPct val="100000"/>
              <a:buChar char="•"/>
            </a:pPr>
            <a:r>
              <a:rPr lang="en-US" sz="900" dirty="0">
                <a:solidFill>
                  <a:srgbClr val="FFFFFF"/>
                </a:solidFill>
                <a:latin typeface="Sora Light" pitchFamily="34" charset="0"/>
                <a:ea typeface="Sora Light" pitchFamily="34" charset="-122"/>
                <a:cs typeface="Sora Light" pitchFamily="34" charset="-120"/>
              </a:rPr>
              <a:t>Diffusers — geração de imagens</a:t>
            </a:r>
            <a:endParaRPr lang="en-US" sz="900" dirty="0"/>
          </a:p>
          <a:p>
            <a:pPr algn="l" marL="342900" indent="-342900">
              <a:lnSpc>
                <a:spcPct val="133000"/>
              </a:lnSpc>
              <a:buSzPct val="100000"/>
              <a:buChar char="•"/>
            </a:pPr>
            <a:r>
              <a:rPr lang="en-US" sz="900" dirty="0">
                <a:solidFill>
                  <a:srgbClr val="FFFFFF"/>
                </a:solidFill>
                <a:latin typeface="Sora Light" pitchFamily="34" charset="0"/>
                <a:ea typeface="Sora Light" pitchFamily="34" charset="-122"/>
                <a:cs typeface="Sora Light" pitchFamily="34" charset="-120"/>
              </a:rPr>
              <a:t>Artefatos OCI — distribuição padronizada</a:t>
            </a:r>
            <a:endParaRPr lang="en-US" sz="900" dirty="0"/>
          </a:p>
          <a:p>
            <a:pPr algn="l" marL="342900" indent="-342900">
              <a:lnSpc>
                <a:spcPct val="133000"/>
              </a:lnSpc>
              <a:buSzPct val="100000"/>
              <a:buChar char="•"/>
            </a:pPr>
            <a:r>
              <a:rPr lang="en-US" sz="900" dirty="0">
                <a:solidFill>
                  <a:srgbClr val="FFFFFF"/>
                </a:solidFill>
                <a:latin typeface="Sora Light" pitchFamily="34" charset="0"/>
                <a:ea typeface="Sora Light" pitchFamily="34" charset="-122"/>
                <a:cs typeface="Sora Light" pitchFamily="34" charset="-120"/>
              </a:rPr>
              <a:t>API OpenAI compatível — integração universal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73943" y="942901"/>
            <a:ext cx="4437608" cy="389706"/>
          </a:xfrm>
          <a:prstGeom prst="rect">
            <a:avLst/>
          </a:prstGeom>
          <a:noFill/>
          <a:ln/>
        </p:spPr>
        <p:txBody>
          <a:bodyPr wrap="none" lIns="0" tIns="0" rIns="0" bIns="0" rtlCol="0" anchor="t"/>
          <a:lstStyle/>
          <a:p>
            <a:pPr algn="l" indent="0" marL="0">
              <a:lnSpc>
                <a:spcPct val="104000"/>
              </a:lnSpc>
              <a:buNone/>
            </a:pPr>
            <a:r>
              <a:rPr lang="en-US" sz="2450" dirty="0">
                <a:solidFill>
                  <a:srgbClr val="1F1E1E"/>
                </a:solidFill>
                <a:latin typeface="Alexandria SemiBold" pitchFamily="34" charset="0"/>
                <a:ea typeface="Alexandria SemiBold" pitchFamily="34" charset="-122"/>
                <a:cs typeface="Alexandria SemiBold" pitchFamily="34" charset="-120"/>
              </a:rPr>
              <a:t>Como a Mágica Acontece</a:t>
            </a:r>
            <a:endParaRPr lang="en-US" sz="2450" dirty="0"/>
          </a:p>
        </p:txBody>
      </p:sp>
      <p:sp>
        <p:nvSpPr>
          <p:cNvPr id="3" name="Text 1"/>
          <p:cNvSpPr/>
          <p:nvPr/>
        </p:nvSpPr>
        <p:spPr>
          <a:xfrm>
            <a:off x="473943" y="1569541"/>
            <a:ext cx="8196114" cy="379065"/>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O Docker Model Runner opera em três pilares fundamentais que, juntos, eliminam as principais barreiras para a adoção de IA local em ambientes de desenvolvimento e produção.</a:t>
            </a:r>
            <a:endParaRPr lang="en-US" sz="900" dirty="0"/>
          </a:p>
        </p:txBody>
      </p:sp>
      <p:pic>
        <p:nvPicPr>
          <p:cNvPr id="4" name="Image 0" descr="preencoded.png">    </p:cNvPr>
          <p:cNvPicPr>
            <a:picLocks noChangeAspect="1"/>
          </p:cNvPicPr>
          <p:nvPr/>
        </p:nvPicPr>
        <p:blipFill>
          <a:blip r:embed="rId1"/>
          <a:stretch>
            <a:fillRect/>
          </a:stretch>
        </p:blipFill>
        <p:spPr>
          <a:xfrm>
            <a:off x="473943" y="2081882"/>
            <a:ext cx="2732038" cy="473943"/>
          </a:xfrm>
          <a:prstGeom prst="rect">
            <a:avLst/>
          </a:prstGeom>
        </p:spPr>
      </p:pic>
      <p:sp>
        <p:nvSpPr>
          <p:cNvPr id="5" name="Text 2"/>
          <p:cNvSpPr/>
          <p:nvPr/>
        </p:nvSpPr>
        <p:spPr>
          <a:xfrm>
            <a:off x="592410" y="2674293"/>
            <a:ext cx="1558975"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Distribuição</a:t>
            </a:r>
            <a:endParaRPr lang="en-US" sz="1200" dirty="0"/>
          </a:p>
        </p:txBody>
      </p:sp>
      <p:sp>
        <p:nvSpPr>
          <p:cNvPr id="6" name="Text 3"/>
          <p:cNvSpPr/>
          <p:nvPr/>
        </p:nvSpPr>
        <p:spPr>
          <a:xfrm>
            <a:off x="592410" y="2940174"/>
            <a:ext cx="2495104" cy="114195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Puxe modelos diretamente do Docker Hub ou Hugging Face usando comandos familiares, como </a:t>
            </a:r>
            <a:pPr algn="l" indent="0" marL="0">
              <a:lnSpc>
                <a:spcPct val="133000"/>
              </a:lnSpc>
              <a:buNone/>
            </a:pPr>
            <a:r>
              <a:rPr lang="en-US" sz="900" dirty="0">
                <a:solidFill>
                  <a:srgbClr val="3B3535"/>
                </a:solidFill>
                <a:highlight>
                  <a:srgbClr val="F2EDED"/>
                </a:highlight>
                <a:latin typeface="Consolas" pitchFamily="34" charset="0"/>
                <a:ea typeface="Consolas" pitchFamily="34" charset="-122"/>
                <a:cs typeface="Consolas" pitchFamily="34" charset="-120"/>
              </a:rPr>
              <a:t>docker model pull</a:t>
            </a:r>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 A distribuição segue o padrão OCI, garantindo portabilidade entre ambientes.</a:t>
            </a:r>
            <a:endParaRPr lang="en-US" sz="900" dirty="0"/>
          </a:p>
        </p:txBody>
      </p:sp>
      <p:pic>
        <p:nvPicPr>
          <p:cNvPr id="7" name="Image 1" descr="preencoded.png">    </p:cNvPr>
          <p:cNvPicPr>
            <a:picLocks noChangeAspect="1"/>
          </p:cNvPicPr>
          <p:nvPr/>
        </p:nvPicPr>
        <p:blipFill>
          <a:blip r:embed="rId2"/>
          <a:stretch>
            <a:fillRect/>
          </a:stretch>
        </p:blipFill>
        <p:spPr>
          <a:xfrm>
            <a:off x="3205981" y="2081882"/>
            <a:ext cx="2732038" cy="473943"/>
          </a:xfrm>
          <a:prstGeom prst="rect">
            <a:avLst/>
          </a:prstGeom>
        </p:spPr>
      </p:pic>
      <p:sp>
        <p:nvSpPr>
          <p:cNvPr id="8" name="Text 4"/>
          <p:cNvSpPr/>
          <p:nvPr/>
        </p:nvSpPr>
        <p:spPr>
          <a:xfrm>
            <a:off x="3324448" y="2674293"/>
            <a:ext cx="1558975"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Sob Demanda</a:t>
            </a:r>
            <a:endParaRPr lang="en-US" sz="1200" dirty="0"/>
          </a:p>
        </p:txBody>
      </p:sp>
      <p:sp>
        <p:nvSpPr>
          <p:cNvPr id="9" name="Text 5"/>
          <p:cNvSpPr/>
          <p:nvPr/>
        </p:nvSpPr>
        <p:spPr>
          <a:xfrm>
            <a:off x="3324448" y="2940174"/>
            <a:ext cx="2495104" cy="1137196"/>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Modelos são carregados na memória apenas quando solicitados e liberados automaticamente após o uso, otimizando o consumo de recursos do sistema e evitando ocupação desnecessária de RAM.</a:t>
            </a:r>
            <a:endParaRPr lang="en-US" sz="900" dirty="0"/>
          </a:p>
        </p:txBody>
      </p:sp>
      <p:pic>
        <p:nvPicPr>
          <p:cNvPr id="10" name="Image 2" descr="preencoded.png">    </p:cNvPr>
          <p:cNvPicPr>
            <a:picLocks noChangeAspect="1"/>
          </p:cNvPicPr>
          <p:nvPr/>
        </p:nvPicPr>
        <p:blipFill>
          <a:blip r:embed="rId3"/>
          <a:stretch>
            <a:fillRect/>
          </a:stretch>
        </p:blipFill>
        <p:spPr>
          <a:xfrm>
            <a:off x="5938019" y="2081882"/>
            <a:ext cx="2732038" cy="473943"/>
          </a:xfrm>
          <a:prstGeom prst="rect">
            <a:avLst/>
          </a:prstGeom>
        </p:spPr>
      </p:pic>
      <p:sp>
        <p:nvSpPr>
          <p:cNvPr id="11" name="Text 6"/>
          <p:cNvSpPr/>
          <p:nvPr/>
        </p:nvSpPr>
        <p:spPr>
          <a:xfrm>
            <a:off x="6056486" y="2674293"/>
            <a:ext cx="1558975"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Interface Universal</a:t>
            </a:r>
            <a:endParaRPr lang="en-US" sz="1200" dirty="0"/>
          </a:p>
        </p:txBody>
      </p:sp>
      <p:sp>
        <p:nvSpPr>
          <p:cNvPr id="12" name="Text 7"/>
          <p:cNvSpPr/>
          <p:nvPr/>
        </p:nvSpPr>
        <p:spPr>
          <a:xfrm>
            <a:off x="6056486" y="2940174"/>
            <a:ext cx="2495104" cy="947663"/>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O DMR expõe APIs compatíveis com o padrão </a:t>
            </a:r>
            <a:pPr algn="l" indent="0" marL="0">
              <a:lnSpc>
                <a:spcPct val="133000"/>
              </a:lnSpc>
              <a:buNone/>
            </a:pPr>
            <a:r>
              <a:rPr lang="en-US" sz="900" b="1" dirty="0">
                <a:solidFill>
                  <a:srgbClr val="3B3535"/>
                </a:solidFill>
                <a:latin typeface="Sora Light" pitchFamily="34" charset="0"/>
                <a:ea typeface="Sora Light" pitchFamily="34" charset="-122"/>
                <a:cs typeface="Sora Light" pitchFamily="34" charset="-120"/>
              </a:rPr>
              <a:t>OpenAI</a:t>
            </a:r>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 permitindo que qualquer ferramenta ou biblioteca que funcione com a API da OpenAI opere diretamente com modelos locais sem modificações.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73943" y="545455"/>
            <a:ext cx="4599459" cy="389706"/>
          </a:xfrm>
          <a:prstGeom prst="rect">
            <a:avLst/>
          </a:prstGeom>
          <a:noFill/>
          <a:ln/>
        </p:spPr>
        <p:txBody>
          <a:bodyPr wrap="none" lIns="0" tIns="0" rIns="0" bIns="0" rtlCol="0" anchor="t"/>
          <a:lstStyle/>
          <a:p>
            <a:pPr algn="l" indent="0" marL="0">
              <a:lnSpc>
                <a:spcPct val="104000"/>
              </a:lnSpc>
              <a:buNone/>
            </a:pPr>
            <a:r>
              <a:rPr lang="en-US" sz="2450" dirty="0">
                <a:solidFill>
                  <a:srgbClr val="1F1E1E"/>
                </a:solidFill>
                <a:latin typeface="Alexandria SemiBold" pitchFamily="34" charset="0"/>
                <a:ea typeface="Alexandria SemiBold" pitchFamily="34" charset="-122"/>
                <a:cs typeface="Alexandria SemiBold" pitchFamily="34" charset="-120"/>
              </a:rPr>
              <a:t>Começando em Segundos</a:t>
            </a:r>
            <a:endParaRPr lang="en-US" sz="2450" dirty="0"/>
          </a:p>
        </p:txBody>
      </p:sp>
      <p:sp>
        <p:nvSpPr>
          <p:cNvPr id="3" name="Text 1"/>
          <p:cNvSpPr/>
          <p:nvPr/>
        </p:nvSpPr>
        <p:spPr>
          <a:xfrm>
            <a:off x="473943" y="1172096"/>
            <a:ext cx="8196114" cy="379065"/>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Um dos diferenciais do Docker Model Runner é a simplicidade de sua curva de aprendizado. Com apenas dois comandos, é possível baixar e executar um modelo de linguagem localmente, sem qualquer configuração adicional de dependências ou drivers.</a:t>
            </a:r>
            <a:endParaRPr lang="en-US" sz="900" dirty="0"/>
          </a:p>
        </p:txBody>
      </p:sp>
      <p:sp>
        <p:nvSpPr>
          <p:cNvPr id="4" name="Text 2"/>
          <p:cNvSpPr/>
          <p:nvPr/>
        </p:nvSpPr>
        <p:spPr>
          <a:xfrm>
            <a:off x="473943" y="1802904"/>
            <a:ext cx="2016175" cy="194816"/>
          </a:xfrm>
          <a:prstGeom prst="rect">
            <a:avLst/>
          </a:prstGeom>
          <a:noFill/>
          <a:ln/>
        </p:spPr>
        <p:txBody>
          <a:bodyPr wrap="none" lIns="0" tIns="0" rIns="0" bIns="0" rtlCol="0" anchor="t"/>
          <a:lstStyle/>
          <a:p>
            <a:pPr algn="l" indent="0" marL="0">
              <a:lnSpc>
                <a:spcPct val="104000"/>
              </a:lnSpc>
              <a:buNone/>
            </a:pPr>
            <a:r>
              <a:rPr lang="en-US" sz="1200" dirty="0">
                <a:solidFill>
                  <a:srgbClr val="1F1E1E"/>
                </a:solidFill>
                <a:latin typeface="Alexandria SemiBold" pitchFamily="34" charset="0"/>
                <a:ea typeface="Alexandria SemiBold" pitchFamily="34" charset="-122"/>
                <a:cs typeface="Alexandria SemiBold" pitchFamily="34" charset="-120"/>
              </a:rPr>
              <a:t>Pré-requisito</a:t>
            </a:r>
            <a:endParaRPr lang="en-US" sz="1200" dirty="0"/>
          </a:p>
        </p:txBody>
      </p:sp>
      <p:sp>
        <p:nvSpPr>
          <p:cNvPr id="5" name="Text 3"/>
          <p:cNvSpPr/>
          <p:nvPr/>
        </p:nvSpPr>
        <p:spPr>
          <a:xfrm>
            <a:off x="473943" y="2116187"/>
            <a:ext cx="3953545" cy="758130"/>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Certifique-se de estar utilizando o </a:t>
            </a:r>
            <a:pPr algn="l" indent="0" marL="0">
              <a:lnSpc>
                <a:spcPct val="133000"/>
              </a:lnSpc>
              <a:buNone/>
            </a:pPr>
            <a:r>
              <a:rPr lang="en-US" sz="900" b="1" dirty="0">
                <a:solidFill>
                  <a:srgbClr val="3B3535"/>
                </a:solidFill>
                <a:latin typeface="Sora Light" pitchFamily="34" charset="0"/>
                <a:ea typeface="Sora Light" pitchFamily="34" charset="-122"/>
                <a:cs typeface="Sora Light" pitchFamily="34" charset="-120"/>
              </a:rPr>
              <a:t>Docker Desktop 4.40+</a:t>
            </a:r>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 versão que introduziu o suporte nativo ao Docker Model Runner. A atualização pode ser feita diretamente pela interface do Docker Desktop.</a:t>
            </a:r>
            <a:endParaRPr lang="en-US" sz="900" dirty="0"/>
          </a:p>
        </p:txBody>
      </p:sp>
      <p:sp>
        <p:nvSpPr>
          <p:cNvPr id="6" name="Text 4"/>
          <p:cNvSpPr/>
          <p:nvPr/>
        </p:nvSpPr>
        <p:spPr>
          <a:xfrm>
            <a:off x="473943" y="2992785"/>
            <a:ext cx="2140000" cy="194816"/>
          </a:xfrm>
          <a:prstGeom prst="rect">
            <a:avLst/>
          </a:prstGeom>
          <a:noFill/>
          <a:ln/>
        </p:spPr>
        <p:txBody>
          <a:bodyPr wrap="none" lIns="0" tIns="0" rIns="0" bIns="0" rtlCol="0" anchor="t"/>
          <a:lstStyle/>
          <a:p>
            <a:pPr algn="l" indent="0" marL="0">
              <a:lnSpc>
                <a:spcPct val="104000"/>
              </a:lnSpc>
              <a:buNone/>
            </a:pPr>
            <a:r>
              <a:rPr lang="en-US" sz="1200" dirty="0">
                <a:solidFill>
                  <a:srgbClr val="1F1E1E"/>
                </a:solidFill>
                <a:latin typeface="Alexandria SemiBold" pitchFamily="34" charset="0"/>
                <a:ea typeface="Alexandria SemiBold" pitchFamily="34" charset="-122"/>
                <a:cs typeface="Alexandria SemiBold" pitchFamily="34" charset="-120"/>
              </a:rPr>
              <a:t>Baixando um Modelo</a:t>
            </a:r>
            <a:endParaRPr lang="en-US" sz="1200" dirty="0"/>
          </a:p>
        </p:txBody>
      </p:sp>
      <p:sp>
        <p:nvSpPr>
          <p:cNvPr id="7" name="Shape 5"/>
          <p:cNvSpPr/>
          <p:nvPr/>
        </p:nvSpPr>
        <p:spPr>
          <a:xfrm>
            <a:off x="473943" y="3320876"/>
            <a:ext cx="3953545" cy="426467"/>
          </a:xfrm>
          <a:prstGeom prst="roundRect">
            <a:avLst>
              <a:gd name="adj" fmla="val 11669"/>
            </a:avLst>
          </a:prstGeom>
          <a:solidFill>
            <a:srgbClr val="F2EDED"/>
          </a:solidFill>
          <a:ln/>
        </p:spPr>
      </p:sp>
      <p:sp>
        <p:nvSpPr>
          <p:cNvPr id="8" name="Shape 6"/>
          <p:cNvSpPr/>
          <p:nvPr/>
        </p:nvSpPr>
        <p:spPr>
          <a:xfrm>
            <a:off x="468064" y="3320876"/>
            <a:ext cx="3965302" cy="426467"/>
          </a:xfrm>
          <a:prstGeom prst="roundRect">
            <a:avLst>
              <a:gd name="adj" fmla="val 4168"/>
            </a:avLst>
          </a:prstGeom>
          <a:solidFill>
            <a:srgbClr val="F2EDED"/>
          </a:solidFill>
          <a:ln/>
        </p:spPr>
      </p:sp>
      <p:sp>
        <p:nvSpPr>
          <p:cNvPr id="9" name="Text 7"/>
          <p:cNvSpPr/>
          <p:nvPr/>
        </p:nvSpPr>
        <p:spPr>
          <a:xfrm>
            <a:off x="616148" y="3439344"/>
            <a:ext cx="4126334" cy="189533"/>
          </a:xfrm>
          <a:prstGeom prst="rect">
            <a:avLst/>
          </a:prstGeom>
          <a:noFill/>
          <a:ln/>
        </p:spPr>
        <p:txBody>
          <a:bodyPr wrap="none" lIns="0" tIns="0" rIns="0" bIns="0" rtlCol="0" anchor="t"/>
          <a:lstStyle/>
          <a:p>
            <a:pPr algn="l" indent="0" marL="0">
              <a:lnSpc>
                <a:spcPct val="133000"/>
              </a:lnSpc>
              <a:buNone/>
            </a:pPr>
            <a:r>
              <a:rPr lang="en-US" sz="900" dirty="0">
                <a:solidFill>
                  <a:srgbClr val="3B3535"/>
                </a:solidFill>
                <a:highlight>
                  <a:srgbClr val="F2EDED"/>
                </a:highlight>
                <a:latin typeface="Consolas Light" pitchFamily="34" charset="0"/>
                <a:ea typeface="Consolas Light" pitchFamily="34" charset="-122"/>
                <a:cs typeface="Consolas Light" pitchFamily="34" charset="-120"/>
              </a:rPr>
              <a:t>docker model pull ai/smollm2:360M-Q4_K_M</a:t>
            </a:r>
            <a:endParaRPr lang="en-US" sz="900" dirty="0"/>
          </a:p>
        </p:txBody>
      </p:sp>
      <p:sp>
        <p:nvSpPr>
          <p:cNvPr id="10" name="Text 8"/>
          <p:cNvSpPr/>
          <p:nvPr/>
        </p:nvSpPr>
        <p:spPr>
          <a:xfrm>
            <a:off x="473943" y="3880619"/>
            <a:ext cx="3953545" cy="56859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Este comando baixa o modelo SmolLM2 com 360 milhões de parâmetros, quantizado no formato Q4_K_M, otimizado para execução em hardware modesto.</a:t>
            </a:r>
            <a:endParaRPr lang="en-US" sz="900" dirty="0"/>
          </a:p>
        </p:txBody>
      </p:sp>
      <p:sp>
        <p:nvSpPr>
          <p:cNvPr id="11" name="Text 9"/>
          <p:cNvSpPr/>
          <p:nvPr/>
        </p:nvSpPr>
        <p:spPr>
          <a:xfrm>
            <a:off x="4721275" y="1802904"/>
            <a:ext cx="2237333" cy="194816"/>
          </a:xfrm>
          <a:prstGeom prst="rect">
            <a:avLst/>
          </a:prstGeom>
          <a:noFill/>
          <a:ln/>
        </p:spPr>
        <p:txBody>
          <a:bodyPr wrap="none" lIns="0" tIns="0" rIns="0" bIns="0" rtlCol="0" anchor="t"/>
          <a:lstStyle/>
          <a:p>
            <a:pPr algn="l" indent="0" marL="0">
              <a:lnSpc>
                <a:spcPct val="104000"/>
              </a:lnSpc>
              <a:buNone/>
            </a:pPr>
            <a:r>
              <a:rPr lang="en-US" sz="1200" dirty="0">
                <a:solidFill>
                  <a:srgbClr val="1F1E1E"/>
                </a:solidFill>
                <a:latin typeface="Alexandria SemiBold" pitchFamily="34" charset="0"/>
                <a:ea typeface="Alexandria SemiBold" pitchFamily="34" charset="-122"/>
                <a:cs typeface="Alexandria SemiBold" pitchFamily="34" charset="-120"/>
              </a:rPr>
              <a:t>Executando Inferência</a:t>
            </a:r>
            <a:endParaRPr lang="en-US" sz="1200" dirty="0"/>
          </a:p>
        </p:txBody>
      </p:sp>
      <p:sp>
        <p:nvSpPr>
          <p:cNvPr id="12" name="Shape 10"/>
          <p:cNvSpPr/>
          <p:nvPr/>
        </p:nvSpPr>
        <p:spPr>
          <a:xfrm>
            <a:off x="4721275" y="2130996"/>
            <a:ext cx="3953545" cy="616000"/>
          </a:xfrm>
          <a:prstGeom prst="roundRect">
            <a:avLst>
              <a:gd name="adj" fmla="val 8079"/>
            </a:avLst>
          </a:prstGeom>
          <a:solidFill>
            <a:srgbClr val="F2EDED"/>
          </a:solidFill>
          <a:ln/>
        </p:spPr>
      </p:sp>
      <p:sp>
        <p:nvSpPr>
          <p:cNvPr id="13" name="Shape 11"/>
          <p:cNvSpPr/>
          <p:nvPr/>
        </p:nvSpPr>
        <p:spPr>
          <a:xfrm>
            <a:off x="4715396" y="2130996"/>
            <a:ext cx="3965302" cy="616000"/>
          </a:xfrm>
          <a:prstGeom prst="roundRect">
            <a:avLst>
              <a:gd name="adj" fmla="val 2885"/>
            </a:avLst>
          </a:prstGeom>
          <a:solidFill>
            <a:srgbClr val="F2EDED"/>
          </a:solidFill>
          <a:ln/>
        </p:spPr>
      </p:sp>
      <p:sp>
        <p:nvSpPr>
          <p:cNvPr id="14" name="Text 12"/>
          <p:cNvSpPr/>
          <p:nvPr/>
        </p:nvSpPr>
        <p:spPr>
          <a:xfrm>
            <a:off x="4863480" y="2249463"/>
            <a:ext cx="3669134" cy="379065"/>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Consolas Light" pitchFamily="34" charset="0"/>
                <a:ea typeface="Consolas Light" pitchFamily="34" charset="-122"/>
                <a:cs typeface="Consolas Light" pitchFamily="34" charset="-120"/>
              </a:rPr>
              <a:t>docker model run ai/smollm2 "Explique o Docker para uma criança"</a:t>
            </a:r>
            <a:endParaRPr lang="en-US" sz="900" dirty="0"/>
          </a:p>
        </p:txBody>
      </p:sp>
      <p:sp>
        <p:nvSpPr>
          <p:cNvPr id="15" name="Text 13"/>
          <p:cNvSpPr/>
          <p:nvPr/>
        </p:nvSpPr>
        <p:spPr>
          <a:xfrm>
            <a:off x="4721275" y="2880271"/>
            <a:ext cx="3953545" cy="56859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O modelo processa o prompt e retorna a resposta diretamente no terminal. O modelo é carregado na memória apenas durante a execução e liberado automaticamente ao final.</a:t>
            </a:r>
            <a:endParaRPr lang="en-US" sz="900" dirty="0"/>
          </a:p>
        </p:txBody>
      </p:sp>
      <p:sp>
        <p:nvSpPr>
          <p:cNvPr id="16" name="Shape 14"/>
          <p:cNvSpPr/>
          <p:nvPr/>
        </p:nvSpPr>
        <p:spPr>
          <a:xfrm>
            <a:off x="4721275" y="3582144"/>
            <a:ext cx="3953545" cy="882551"/>
          </a:xfrm>
          <a:prstGeom prst="roundRect">
            <a:avLst>
              <a:gd name="adj" fmla="val 5639"/>
            </a:avLst>
          </a:prstGeom>
          <a:solidFill>
            <a:srgbClr val="C0CAF2"/>
          </a:solidFill>
          <a:ln/>
        </p:spPr>
      </p:sp>
      <p:pic>
        <p:nvPicPr>
          <p:cNvPr id="17" name="Image 0" descr="preencoded.png">    </p:cNvPr>
          <p:cNvPicPr>
            <a:picLocks noChangeAspect="1"/>
          </p:cNvPicPr>
          <p:nvPr/>
        </p:nvPicPr>
        <p:blipFill>
          <a:blip r:embed="rId1"/>
          <a:stretch>
            <a:fillRect/>
          </a:stretch>
        </p:blipFill>
        <p:spPr>
          <a:xfrm>
            <a:off x="4839742" y="3759919"/>
            <a:ext cx="148084" cy="118467"/>
          </a:xfrm>
          <a:prstGeom prst="rect">
            <a:avLst/>
          </a:prstGeom>
        </p:spPr>
      </p:pic>
      <p:sp>
        <p:nvSpPr>
          <p:cNvPr id="18" name="Text 15"/>
          <p:cNvSpPr/>
          <p:nvPr/>
        </p:nvSpPr>
        <p:spPr>
          <a:xfrm>
            <a:off x="5106293" y="3730228"/>
            <a:ext cx="3450059" cy="56859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000000"/>
                </a:solidFill>
                <a:latin typeface="Sora Light" pitchFamily="34" charset="0"/>
                <a:ea typeface="Sora Light" pitchFamily="34" charset="-122"/>
                <a:cs typeface="Sora Light" pitchFamily="34" charset="-120"/>
              </a:rPr>
              <a:t>O primeiro comando pode demorar alguns segundos enquanto o modelo é carregado na memória pela primeira vez.</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66502" y="463228"/>
            <a:ext cx="4624090" cy="383679"/>
          </a:xfrm>
          <a:prstGeom prst="rect">
            <a:avLst/>
          </a:prstGeom>
          <a:noFill/>
          <a:ln/>
        </p:spPr>
        <p:txBody>
          <a:bodyPr wrap="none" lIns="0" tIns="0" rIns="0" bIns="0" rtlCol="0" anchor="t"/>
          <a:lstStyle/>
          <a:p>
            <a:pPr algn="l" indent="0" marL="0">
              <a:lnSpc>
                <a:spcPct val="104000"/>
              </a:lnSpc>
              <a:buNone/>
            </a:pPr>
            <a:r>
              <a:rPr lang="en-US" sz="2400" dirty="0">
                <a:solidFill>
                  <a:srgbClr val="1F1E1E"/>
                </a:solidFill>
                <a:latin typeface="Alexandria SemiBold" pitchFamily="34" charset="0"/>
                <a:ea typeface="Alexandria SemiBold" pitchFamily="34" charset="-122"/>
                <a:cs typeface="Alexandria SemiBold" pitchFamily="34" charset="-120"/>
              </a:rPr>
              <a:t>Integração com LangChain</a:t>
            </a:r>
            <a:endParaRPr lang="en-US" sz="2400" dirty="0"/>
          </a:p>
        </p:txBody>
      </p:sp>
      <p:sp>
        <p:nvSpPr>
          <p:cNvPr id="4" name="Text 1"/>
          <p:cNvSpPr/>
          <p:nvPr/>
        </p:nvSpPr>
        <p:spPr>
          <a:xfrm>
            <a:off x="466502" y="1019101"/>
            <a:ext cx="4781996" cy="740271"/>
          </a:xfrm>
          <a:prstGeom prst="rect">
            <a:avLst/>
          </a:prstGeom>
          <a:noFill/>
          <a:ln/>
        </p:spPr>
        <p:txBody>
          <a:bodyPr wrap="square" lIns="0" tIns="0" rIns="0" bIns="0" rtlCol="0" anchor="t">
            <a:normAutofit/>
          </a:bodyPr>
          <a:lstStyle/>
          <a:p>
            <a:pPr algn="l" indent="0" marL="0">
              <a:lnSpc>
                <a:spcPct val="132000"/>
              </a:lnSpc>
              <a:buNone/>
            </a:pPr>
            <a:r>
              <a:rPr lang="en-US" sz="900" dirty="0">
                <a:solidFill>
                  <a:srgbClr val="3B3535"/>
                </a:solidFill>
                <a:latin typeface="Sora Light" pitchFamily="34" charset="0"/>
                <a:ea typeface="Sora Light" pitchFamily="34" charset="-122"/>
                <a:cs typeface="Sora Light" pitchFamily="34" charset="-120"/>
              </a:rPr>
              <a:t>O Docker Model Runner oferece integração nativa com o ecossistema LangChain, uma das bibliotecas mais utilizadas para construção de aplicações baseadas em modelos de linguagem. Essa integração permite que scripts Python existentes operem com modelos locais sem alterações significativas no código.</a:t>
            </a:r>
            <a:endParaRPr lang="en-US" sz="900" dirty="0"/>
          </a:p>
        </p:txBody>
      </p:sp>
      <p:sp>
        <p:nvSpPr>
          <p:cNvPr id="5" name="Shape 2"/>
          <p:cNvSpPr/>
          <p:nvPr/>
        </p:nvSpPr>
        <p:spPr>
          <a:xfrm>
            <a:off x="466502" y="1888480"/>
            <a:ext cx="2333625" cy="1618506"/>
          </a:xfrm>
          <a:prstGeom prst="roundRect">
            <a:avLst>
              <a:gd name="adj" fmla="val 3027"/>
            </a:avLst>
          </a:prstGeom>
          <a:solidFill>
            <a:srgbClr val="D5DCF6"/>
          </a:solidFill>
          <a:ln w="4763">
            <a:solidFill>
              <a:srgbClr val="BBC2DC"/>
            </a:solidFill>
            <a:prstDash val="solid"/>
          </a:ln>
        </p:spPr>
      </p:sp>
      <p:sp>
        <p:nvSpPr>
          <p:cNvPr id="6" name="Text 3"/>
          <p:cNvSpPr/>
          <p:nvPr/>
        </p:nvSpPr>
        <p:spPr>
          <a:xfrm>
            <a:off x="587871" y="2009849"/>
            <a:ext cx="1534641" cy="191765"/>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Endpoint Local</a:t>
            </a:r>
            <a:endParaRPr lang="en-US" sz="1200" dirty="0"/>
          </a:p>
        </p:txBody>
      </p:sp>
      <p:sp>
        <p:nvSpPr>
          <p:cNvPr id="7" name="Text 4"/>
          <p:cNvSpPr/>
          <p:nvPr/>
        </p:nvSpPr>
        <p:spPr>
          <a:xfrm>
            <a:off x="587871" y="2270447"/>
            <a:ext cx="2090886" cy="1115169"/>
          </a:xfrm>
          <a:prstGeom prst="rect">
            <a:avLst/>
          </a:prstGeom>
          <a:noFill/>
          <a:ln/>
        </p:spPr>
        <p:txBody>
          <a:bodyPr wrap="square" lIns="0" tIns="0" rIns="0" bIns="0" rtlCol="0" anchor="t">
            <a:normAutofit/>
          </a:bodyPr>
          <a:lstStyle/>
          <a:p>
            <a:pPr algn="l" indent="0" marL="0">
              <a:lnSpc>
                <a:spcPct val="132000"/>
              </a:lnSpc>
              <a:buNone/>
            </a:pPr>
            <a:r>
              <a:rPr lang="en-US" sz="900" dirty="0">
                <a:solidFill>
                  <a:srgbClr val="3B3535"/>
                </a:solidFill>
                <a:latin typeface="Sora Light" pitchFamily="34" charset="0"/>
                <a:ea typeface="Sora Light" pitchFamily="34" charset="-122"/>
                <a:cs typeface="Sora Light" pitchFamily="34" charset="-120"/>
              </a:rPr>
              <a:t>Conecte suas aplicações ao endpoint </a:t>
            </a:r>
            <a:pPr algn="l" indent="0" marL="0">
              <a:lnSpc>
                <a:spcPct val="132000"/>
              </a:lnSpc>
              <a:buNone/>
            </a:pPr>
            <a:r>
              <a:rPr lang="en-US" sz="900" dirty="0">
                <a:solidFill>
                  <a:srgbClr val="3B3535"/>
                </a:solidFill>
                <a:highlight>
                  <a:srgbClr val="F2EDED"/>
                </a:highlight>
                <a:latin typeface="Consolas" pitchFamily="34" charset="0"/>
                <a:ea typeface="Consolas" pitchFamily="34" charset="-122"/>
                <a:cs typeface="Consolas" pitchFamily="34" charset="-120"/>
              </a:rPr>
              <a:t>localhost:12434/engines/v1</a:t>
            </a:r>
            <a:pPr algn="l" indent="0" marL="0">
              <a:lnSpc>
                <a:spcPct val="132000"/>
              </a:lnSpc>
              <a:buNone/>
            </a:pPr>
            <a:r>
              <a:rPr lang="en-US" sz="900" dirty="0">
                <a:solidFill>
                  <a:srgbClr val="3B3535"/>
                </a:solidFill>
                <a:latin typeface="Sora Light" pitchFamily="34" charset="0"/>
                <a:ea typeface="Sora Light" pitchFamily="34" charset="-122"/>
                <a:cs typeface="Sora Light" pitchFamily="34" charset="-120"/>
              </a:rPr>
              <a:t>, que replica a estrutura da API OpenAI, garantindo compatibilidade com ferramentas existentes.</a:t>
            </a:r>
            <a:endParaRPr lang="en-US" sz="900" dirty="0"/>
          </a:p>
        </p:txBody>
      </p:sp>
      <p:sp>
        <p:nvSpPr>
          <p:cNvPr id="8" name="Shape 5"/>
          <p:cNvSpPr/>
          <p:nvPr/>
        </p:nvSpPr>
        <p:spPr>
          <a:xfrm>
            <a:off x="2914873" y="1888480"/>
            <a:ext cx="2333625" cy="1618506"/>
          </a:xfrm>
          <a:prstGeom prst="roundRect">
            <a:avLst>
              <a:gd name="adj" fmla="val 3027"/>
            </a:avLst>
          </a:prstGeom>
          <a:solidFill>
            <a:srgbClr val="D5DCF6"/>
          </a:solidFill>
          <a:ln w="4763">
            <a:solidFill>
              <a:srgbClr val="BBC2DC"/>
            </a:solidFill>
            <a:prstDash val="solid"/>
          </a:ln>
        </p:spPr>
      </p:sp>
      <p:sp>
        <p:nvSpPr>
          <p:cNvPr id="9" name="Text 6"/>
          <p:cNvSpPr/>
          <p:nvPr/>
        </p:nvSpPr>
        <p:spPr>
          <a:xfrm>
            <a:off x="3036243" y="2009849"/>
            <a:ext cx="1848073" cy="191765"/>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Compatibilidade Nativa</a:t>
            </a:r>
            <a:endParaRPr lang="en-US" sz="1200" dirty="0"/>
          </a:p>
        </p:txBody>
      </p:sp>
      <p:sp>
        <p:nvSpPr>
          <p:cNvPr id="10" name="Text 7"/>
          <p:cNvSpPr/>
          <p:nvPr/>
        </p:nvSpPr>
        <p:spPr>
          <a:xfrm>
            <a:off x="3036243" y="2270447"/>
            <a:ext cx="2090886" cy="1110407"/>
          </a:xfrm>
          <a:prstGeom prst="rect">
            <a:avLst/>
          </a:prstGeom>
          <a:noFill/>
          <a:ln/>
        </p:spPr>
        <p:txBody>
          <a:bodyPr wrap="square" lIns="0" tIns="0" rIns="0" bIns="0" rtlCol="0" anchor="t">
            <a:normAutofit/>
          </a:bodyPr>
          <a:lstStyle/>
          <a:p>
            <a:pPr algn="l" indent="0" marL="0">
              <a:lnSpc>
                <a:spcPct val="132000"/>
              </a:lnSpc>
              <a:buNone/>
            </a:pPr>
            <a:r>
              <a:rPr lang="en-US" sz="900" dirty="0">
                <a:solidFill>
                  <a:srgbClr val="3B3535"/>
                </a:solidFill>
                <a:latin typeface="Sora Light" pitchFamily="34" charset="0"/>
                <a:ea typeface="Sora Light" pitchFamily="34" charset="-122"/>
                <a:cs typeface="Sora Light" pitchFamily="34" charset="-120"/>
              </a:rPr>
              <a:t>Ferramentas e bibliotecas que já utilizam a API da OpenAI — como LangChain, LlamaIndex e AutoGPT — funcionam diretamente com o DMR sem necessidade de adaptação.</a:t>
            </a:r>
            <a:endParaRPr lang="en-US" sz="900" dirty="0"/>
          </a:p>
        </p:txBody>
      </p:sp>
      <p:sp>
        <p:nvSpPr>
          <p:cNvPr id="11" name="Shape 8"/>
          <p:cNvSpPr/>
          <p:nvPr/>
        </p:nvSpPr>
        <p:spPr>
          <a:xfrm>
            <a:off x="466502" y="3621732"/>
            <a:ext cx="4781996" cy="1058540"/>
          </a:xfrm>
          <a:prstGeom prst="roundRect">
            <a:avLst>
              <a:gd name="adj" fmla="val 4628"/>
            </a:avLst>
          </a:prstGeom>
          <a:solidFill>
            <a:srgbClr val="D5DCF6"/>
          </a:solidFill>
          <a:ln w="4763">
            <a:solidFill>
              <a:srgbClr val="BBC2DC"/>
            </a:solidFill>
            <a:prstDash val="solid"/>
          </a:ln>
        </p:spPr>
      </p:sp>
      <p:sp>
        <p:nvSpPr>
          <p:cNvPr id="12" name="Text 9"/>
          <p:cNvSpPr/>
          <p:nvPr/>
        </p:nvSpPr>
        <p:spPr>
          <a:xfrm>
            <a:off x="587871" y="3743102"/>
            <a:ext cx="1534641" cy="191765"/>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Infraestrutura Local</a:t>
            </a:r>
            <a:endParaRPr lang="en-US" sz="1200" dirty="0"/>
          </a:p>
        </p:txBody>
      </p:sp>
      <p:sp>
        <p:nvSpPr>
          <p:cNvPr id="13" name="Text 10"/>
          <p:cNvSpPr/>
          <p:nvPr/>
        </p:nvSpPr>
        <p:spPr>
          <a:xfrm>
            <a:off x="587871" y="4003700"/>
            <a:ext cx="4539258" cy="555203"/>
          </a:xfrm>
          <a:prstGeom prst="rect">
            <a:avLst/>
          </a:prstGeom>
          <a:noFill/>
          <a:ln/>
        </p:spPr>
        <p:txBody>
          <a:bodyPr wrap="square" lIns="0" tIns="0" rIns="0" bIns="0" rtlCol="0" anchor="t">
            <a:normAutofit/>
          </a:bodyPr>
          <a:lstStyle/>
          <a:p>
            <a:pPr algn="l" indent="0" marL="0">
              <a:lnSpc>
                <a:spcPct val="132000"/>
              </a:lnSpc>
              <a:buNone/>
            </a:pPr>
            <a:r>
              <a:rPr lang="en-US" sz="900" dirty="0">
                <a:solidFill>
                  <a:srgbClr val="3B3535"/>
                </a:solidFill>
                <a:latin typeface="Sora Light" pitchFamily="34" charset="0"/>
                <a:ea typeface="Sora Light" pitchFamily="34" charset="-122"/>
                <a:cs typeface="Sora Light" pitchFamily="34" charset="-120"/>
              </a:rPr>
              <a:t>Scripts Python rodam localmente, conectando-se à infraestrutura Docker, eliminando dependência de serviços em nuvem e garantindo total privacidade dos dados processados.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73943" y="777999"/>
            <a:ext cx="4417963" cy="389706"/>
          </a:xfrm>
          <a:prstGeom prst="rect">
            <a:avLst/>
          </a:prstGeom>
          <a:noFill/>
          <a:ln/>
        </p:spPr>
        <p:txBody>
          <a:bodyPr wrap="none" lIns="0" tIns="0" rIns="0" bIns="0" rtlCol="0" anchor="t"/>
          <a:lstStyle/>
          <a:p>
            <a:pPr algn="l" indent="0" marL="0">
              <a:lnSpc>
                <a:spcPct val="104000"/>
              </a:lnSpc>
              <a:buNone/>
            </a:pPr>
            <a:r>
              <a:rPr lang="en-US" sz="2450" dirty="0">
                <a:solidFill>
                  <a:srgbClr val="1F1E1E"/>
                </a:solidFill>
                <a:latin typeface="Alexandria SemiBold" pitchFamily="34" charset="0"/>
                <a:ea typeface="Alexandria SemiBold" pitchFamily="34" charset="-122"/>
                <a:cs typeface="Alexandria SemiBold" pitchFamily="34" charset="-120"/>
              </a:rPr>
              <a:t>Automatização em CI/CD</a:t>
            </a:r>
            <a:endParaRPr lang="en-US" sz="2450" dirty="0"/>
          </a:p>
        </p:txBody>
      </p:sp>
      <p:sp>
        <p:nvSpPr>
          <p:cNvPr id="3" name="Shape 1"/>
          <p:cNvSpPr/>
          <p:nvPr/>
        </p:nvSpPr>
        <p:spPr>
          <a:xfrm>
            <a:off x="388665" y="1345406"/>
            <a:ext cx="3699793" cy="3020095"/>
          </a:xfrm>
          <a:prstGeom prst="roundRect">
            <a:avLst>
              <a:gd name="adj" fmla="val 2825"/>
            </a:avLst>
          </a:prstGeom>
          <a:solidFill>
            <a:srgbClr val="1A2D7A"/>
          </a:solidFill>
          <a:ln/>
        </p:spPr>
      </p:sp>
      <p:sp>
        <p:nvSpPr>
          <p:cNvPr id="4" name="Text 2"/>
          <p:cNvSpPr/>
          <p:nvPr/>
        </p:nvSpPr>
        <p:spPr>
          <a:xfrm>
            <a:off x="507132" y="1463873"/>
            <a:ext cx="2155552" cy="194816"/>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Alexandria SemiBold" pitchFamily="34" charset="0"/>
                <a:ea typeface="Alexandria SemiBold" pitchFamily="34" charset="-122"/>
                <a:cs typeface="Alexandria SemiBold" pitchFamily="34" charset="-120"/>
              </a:rPr>
              <a:t>Por que automatizar?</a:t>
            </a:r>
            <a:endParaRPr lang="en-US" sz="1200" dirty="0"/>
          </a:p>
        </p:txBody>
      </p:sp>
      <p:sp>
        <p:nvSpPr>
          <p:cNvPr id="5" name="Text 3"/>
          <p:cNvSpPr/>
          <p:nvPr/>
        </p:nvSpPr>
        <p:spPr>
          <a:xfrm>
            <a:off x="507132" y="1777157"/>
            <a:ext cx="3462858" cy="758130"/>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FFFFFF"/>
                </a:solidFill>
                <a:latin typeface="Sora Light" pitchFamily="34" charset="0"/>
                <a:ea typeface="Sora Light" pitchFamily="34" charset="-122"/>
                <a:cs typeface="Sora Light" pitchFamily="34" charset="-120"/>
              </a:rPr>
              <a:t>Validar modelos de IA em pipelines de integração contínua garante que alterações no código ou nos modelos não introduzam regressões antes do deploy em produção.</a:t>
            </a:r>
            <a:endParaRPr lang="en-US" sz="900" dirty="0"/>
          </a:p>
        </p:txBody>
      </p:sp>
      <p:sp>
        <p:nvSpPr>
          <p:cNvPr id="6" name="Text 4"/>
          <p:cNvSpPr/>
          <p:nvPr/>
        </p:nvSpPr>
        <p:spPr>
          <a:xfrm>
            <a:off x="507132" y="2641922"/>
            <a:ext cx="3462858" cy="882476"/>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900" dirty="0">
                <a:solidFill>
                  <a:srgbClr val="FFFFFF"/>
                </a:solidFill>
                <a:latin typeface="Sora Light" pitchFamily="34" charset="0"/>
                <a:ea typeface="Sora Light" pitchFamily="34" charset="-122"/>
                <a:cs typeface="Sora Light" pitchFamily="34" charset="-120"/>
              </a:rPr>
              <a:t>Testes automatizados de inferência</a:t>
            </a:r>
            <a:endParaRPr lang="en-US" sz="900" dirty="0"/>
          </a:p>
          <a:p>
            <a:pPr algn="l" marL="342900" indent="-342900">
              <a:lnSpc>
                <a:spcPct val="133000"/>
              </a:lnSpc>
              <a:buSzPct val="100000"/>
              <a:buChar char="•"/>
            </a:pPr>
            <a:r>
              <a:rPr lang="en-US" sz="900" dirty="0">
                <a:solidFill>
                  <a:srgbClr val="FFFFFF"/>
                </a:solidFill>
                <a:latin typeface="Sora Light" pitchFamily="34" charset="0"/>
                <a:ea typeface="Sora Light" pitchFamily="34" charset="-122"/>
                <a:cs typeface="Sora Light" pitchFamily="34" charset="-120"/>
              </a:rPr>
              <a:t>Validação de qualidade de respostas</a:t>
            </a:r>
            <a:endParaRPr lang="en-US" sz="900" dirty="0"/>
          </a:p>
          <a:p>
            <a:pPr algn="l" marL="342900" indent="-342900">
              <a:lnSpc>
                <a:spcPct val="133000"/>
              </a:lnSpc>
              <a:buSzPct val="100000"/>
              <a:buChar char="•"/>
            </a:pPr>
            <a:r>
              <a:rPr lang="en-US" sz="900" dirty="0">
                <a:solidFill>
                  <a:srgbClr val="FFFFFF"/>
                </a:solidFill>
                <a:latin typeface="Sora Light" pitchFamily="34" charset="0"/>
                <a:ea typeface="Sora Light" pitchFamily="34" charset="-122"/>
                <a:cs typeface="Sora Light" pitchFamily="34" charset="-120"/>
              </a:rPr>
              <a:t>Descarte automático de modelos após testes</a:t>
            </a:r>
            <a:endParaRPr lang="en-US" sz="900" dirty="0"/>
          </a:p>
          <a:p>
            <a:pPr algn="l" marL="342900" indent="-342900">
              <a:lnSpc>
                <a:spcPct val="133000"/>
              </a:lnSpc>
              <a:buSzPct val="100000"/>
              <a:buChar char="•"/>
            </a:pPr>
            <a:r>
              <a:rPr lang="en-US" sz="900" dirty="0">
                <a:solidFill>
                  <a:srgbClr val="FFFFFF"/>
                </a:solidFill>
                <a:latin typeface="Sora Light" pitchFamily="34" charset="0"/>
                <a:ea typeface="Sora Light" pitchFamily="34" charset="-122"/>
                <a:cs typeface="Sora Light" pitchFamily="34" charset="-120"/>
              </a:rPr>
              <a:t>Zero intervenção manual no pipeline</a:t>
            </a:r>
            <a:endParaRPr lang="en-US" sz="900" dirty="0"/>
          </a:p>
        </p:txBody>
      </p:sp>
      <p:sp>
        <p:nvSpPr>
          <p:cNvPr id="7" name="Text 5"/>
          <p:cNvSpPr/>
          <p:nvPr/>
        </p:nvSpPr>
        <p:spPr>
          <a:xfrm>
            <a:off x="4296966" y="1463873"/>
            <a:ext cx="2686869" cy="194816"/>
          </a:xfrm>
          <a:prstGeom prst="rect">
            <a:avLst/>
          </a:prstGeom>
          <a:noFill/>
          <a:ln/>
        </p:spPr>
        <p:txBody>
          <a:bodyPr wrap="none" lIns="0" tIns="0" rIns="0" bIns="0" rtlCol="0" anchor="t"/>
          <a:lstStyle/>
          <a:p>
            <a:pPr algn="l" indent="0" marL="0">
              <a:lnSpc>
                <a:spcPct val="104000"/>
              </a:lnSpc>
              <a:buNone/>
            </a:pPr>
            <a:r>
              <a:rPr lang="en-US" sz="1200" dirty="0">
                <a:solidFill>
                  <a:srgbClr val="1F1E1E"/>
                </a:solidFill>
                <a:latin typeface="Alexandria SemiBold" pitchFamily="34" charset="0"/>
                <a:ea typeface="Alexandria SemiBold" pitchFamily="34" charset="-122"/>
                <a:cs typeface="Alexandria SemiBold" pitchFamily="34" charset="-120"/>
              </a:rPr>
              <a:t>Plugin docker-model-plugin</a:t>
            </a:r>
            <a:endParaRPr lang="en-US" sz="1200" dirty="0"/>
          </a:p>
        </p:txBody>
      </p:sp>
      <p:sp>
        <p:nvSpPr>
          <p:cNvPr id="8" name="Text 6"/>
          <p:cNvSpPr/>
          <p:nvPr/>
        </p:nvSpPr>
        <p:spPr>
          <a:xfrm>
            <a:off x="4296966" y="1777157"/>
            <a:ext cx="4377779" cy="947663"/>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O plugin </a:t>
            </a:r>
            <a:pPr algn="l" indent="0" marL="0">
              <a:lnSpc>
                <a:spcPct val="133000"/>
              </a:lnSpc>
              <a:buNone/>
            </a:pPr>
            <a:r>
              <a:rPr lang="en-US" sz="900" b="1" dirty="0">
                <a:solidFill>
                  <a:srgbClr val="3B3535"/>
                </a:solidFill>
                <a:latin typeface="Sora Light" pitchFamily="34" charset="0"/>
                <a:ea typeface="Sora Light" pitchFamily="34" charset="-122"/>
                <a:cs typeface="Sora Light" pitchFamily="34" charset="-120"/>
              </a:rPr>
              <a:t>docker-model-plugin</a:t>
            </a:r>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 para GitHub Actions permite integrar o Docker Model Runner diretamente em pipelines de CI/CD. Com ele, é possível configurar workflows que baixam modelos, executam testes de inferência e descartam os artefatos ao final do processo, sem ocupar espaço permanente nos runners.</a:t>
            </a:r>
            <a:endParaRPr lang="en-US" sz="900" dirty="0"/>
          </a:p>
        </p:txBody>
      </p:sp>
      <p:sp>
        <p:nvSpPr>
          <p:cNvPr id="9" name="Shape 7"/>
          <p:cNvSpPr/>
          <p:nvPr/>
        </p:nvSpPr>
        <p:spPr>
          <a:xfrm>
            <a:off x="4296966" y="2858095"/>
            <a:ext cx="4377779" cy="1374130"/>
          </a:xfrm>
          <a:prstGeom prst="roundRect">
            <a:avLst>
              <a:gd name="adj" fmla="val 3622"/>
            </a:avLst>
          </a:prstGeom>
          <a:solidFill>
            <a:srgbClr val="F2EDED"/>
          </a:solidFill>
          <a:ln/>
        </p:spPr>
      </p:sp>
      <p:sp>
        <p:nvSpPr>
          <p:cNvPr id="10" name="Shape 8"/>
          <p:cNvSpPr/>
          <p:nvPr/>
        </p:nvSpPr>
        <p:spPr>
          <a:xfrm>
            <a:off x="4291087" y="2858095"/>
            <a:ext cx="4389537" cy="1374130"/>
          </a:xfrm>
          <a:prstGeom prst="roundRect">
            <a:avLst>
              <a:gd name="adj" fmla="val 1293"/>
            </a:avLst>
          </a:prstGeom>
          <a:solidFill>
            <a:srgbClr val="F2EDED"/>
          </a:solidFill>
          <a:ln/>
        </p:spPr>
      </p:sp>
      <p:sp>
        <p:nvSpPr>
          <p:cNvPr id="11" name="Text 9"/>
          <p:cNvSpPr/>
          <p:nvPr/>
        </p:nvSpPr>
        <p:spPr>
          <a:xfrm>
            <a:off x="4439171" y="2976563"/>
            <a:ext cx="4093369" cy="1137196"/>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005CC5"/>
                </a:solidFill>
                <a:highlight>
                  <a:srgbClr val="F2EDED"/>
                </a:highlight>
                <a:latin typeface="Consolas Light" pitchFamily="34" charset="0"/>
                <a:ea typeface="Consolas Light" pitchFamily="34" charset="-122"/>
                <a:cs typeface="Consolas Light" pitchFamily="34" charset="-120"/>
              </a:rPr>
              <a:t>jobs:</a:t>
            </a:r>
            <a:endParaRPr lang="en-US" sz="900" dirty="0"/>
          </a:p>
          <a:p>
            <a:pPr algn="l" indent="0" marL="0">
              <a:lnSpc>
                <a:spcPct val="133000"/>
              </a:lnSpc>
              <a:buNone/>
            </a:pPr>
            <a:r>
              <a:rPr lang="en-US" sz="900" dirty="0">
                <a:solidFill>
                  <a:srgbClr val="005CC5"/>
                </a:solidFill>
                <a:highlight>
                  <a:srgbClr val="F2EDED"/>
                </a:highlight>
                <a:latin typeface="Consolas Light" pitchFamily="34" charset="0"/>
                <a:ea typeface="Consolas Light" pitchFamily="34" charset="-122"/>
                <a:cs typeface="Consolas Light" pitchFamily="34" charset="-120"/>
              </a:rPr>
              <a:t> test-ai:</a:t>
            </a:r>
            <a:endParaRPr lang="en-US" sz="900" dirty="0"/>
          </a:p>
          <a:p>
            <a:pPr algn="l" indent="0" marL="0">
              <a:lnSpc>
                <a:spcPct val="133000"/>
              </a:lnSpc>
              <a:buNone/>
            </a:pPr>
            <a:r>
              <a:rPr lang="en-US" sz="900" dirty="0">
                <a:solidFill>
                  <a:srgbClr val="005CC5"/>
                </a:solidFill>
                <a:highlight>
                  <a:srgbClr val="F2EDED"/>
                </a:highlight>
                <a:latin typeface="Consolas Light" pitchFamily="34" charset="0"/>
                <a:ea typeface="Consolas Light" pitchFamily="34" charset="-122"/>
                <a:cs typeface="Consolas Light" pitchFamily="34" charset="-120"/>
              </a:rPr>
              <a:t> runs-on: ubuntu-latest</a:t>
            </a:r>
            <a:endParaRPr lang="en-US" sz="900" dirty="0"/>
          </a:p>
          <a:p>
            <a:pPr algn="l" indent="0" marL="0">
              <a:lnSpc>
                <a:spcPct val="133000"/>
              </a:lnSpc>
              <a:buNone/>
            </a:pPr>
            <a:r>
              <a:rPr lang="en-US" sz="900" dirty="0">
                <a:solidFill>
                  <a:srgbClr val="005CC5"/>
                </a:solidFill>
                <a:highlight>
                  <a:srgbClr val="F2EDED"/>
                </a:highlight>
                <a:latin typeface="Consolas Light" pitchFamily="34" charset="0"/>
                <a:ea typeface="Consolas Light" pitchFamily="34" charset="-122"/>
                <a:cs typeface="Consolas Light" pitchFamily="34" charset="-120"/>
              </a:rPr>
              <a:t> steps:</a:t>
            </a:r>
            <a:endParaRPr lang="en-US" sz="900" dirty="0"/>
          </a:p>
          <a:p>
            <a:pPr algn="l" indent="0" marL="0">
              <a:lnSpc>
                <a:spcPct val="133000"/>
              </a:lnSpc>
              <a:buNone/>
            </a:pPr>
            <a:r>
              <a:rPr lang="en-US" sz="900" dirty="0">
                <a:solidFill>
                  <a:srgbClr val="005CC5"/>
                </a:solidFill>
                <a:highlight>
                  <a:srgbClr val="F2EDED"/>
                </a:highlight>
                <a:latin typeface="Consolas Light" pitchFamily="34" charset="0"/>
                <a:ea typeface="Consolas Light" pitchFamily="34" charset="-122"/>
                <a:cs typeface="Consolas Light" pitchFamily="34" charset="-120"/>
              </a:rPr>
              <a:t> - uses: docker/model-plugin@v1</a:t>
            </a:r>
            <a:endParaRPr lang="en-US" sz="900" dirty="0"/>
          </a:p>
          <a:p>
            <a:pPr algn="l" indent="0" marL="0">
              <a:lnSpc>
                <a:spcPct val="133000"/>
              </a:lnSpc>
              <a:buNone/>
            </a:pPr>
            <a:r>
              <a:rPr lang="en-US" sz="900" dirty="0">
                <a:solidFill>
                  <a:srgbClr val="005CC5"/>
                </a:solidFill>
                <a:highlight>
                  <a:srgbClr val="F2EDED"/>
                </a:highlight>
                <a:latin typeface="Consolas Light" pitchFamily="34" charset="0"/>
                <a:ea typeface="Consolas Light" pitchFamily="34" charset="-122"/>
                <a:cs typeface="Consolas Light" pitchFamily="34" charset="-120"/>
              </a:rPr>
              <a:t> - run: docker model run ai/smollm2 "test"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73943" y="659904"/>
            <a:ext cx="3904431" cy="389706"/>
          </a:xfrm>
          <a:prstGeom prst="rect">
            <a:avLst/>
          </a:prstGeom>
          <a:noFill/>
          <a:ln/>
        </p:spPr>
        <p:txBody>
          <a:bodyPr wrap="none" lIns="0" tIns="0" rIns="0" bIns="0" rtlCol="0" anchor="t"/>
          <a:lstStyle/>
          <a:p>
            <a:pPr algn="l" indent="0" marL="0">
              <a:lnSpc>
                <a:spcPct val="104000"/>
              </a:lnSpc>
              <a:buNone/>
            </a:pPr>
            <a:r>
              <a:rPr lang="en-US" sz="2450" dirty="0">
                <a:solidFill>
                  <a:srgbClr val="1F1E1E"/>
                </a:solidFill>
                <a:latin typeface="Alexandria SemiBold" pitchFamily="34" charset="0"/>
                <a:ea typeface="Alexandria SemiBold" pitchFamily="34" charset="-122"/>
                <a:cs typeface="Alexandria SemiBold" pitchFamily="34" charset="-120"/>
              </a:rPr>
              <a:t>Motores de Inferência</a:t>
            </a:r>
            <a:endParaRPr lang="en-US" sz="2450" dirty="0"/>
          </a:p>
        </p:txBody>
      </p:sp>
      <p:sp>
        <p:nvSpPr>
          <p:cNvPr id="3" name="Text 1"/>
          <p:cNvSpPr/>
          <p:nvPr/>
        </p:nvSpPr>
        <p:spPr>
          <a:xfrm>
            <a:off x="473943" y="1286545"/>
            <a:ext cx="8196114" cy="379065"/>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O Docker Model Runner suporta múltiplos motores de inferência, cada um otimizado para um cenário específico. A escolha do motor adequado impacta diretamente no desempenho, consumo de recursos e tipos de modelos suportados.</a:t>
            </a:r>
            <a:endParaRPr lang="en-US" sz="900" dirty="0"/>
          </a:p>
        </p:txBody>
      </p:sp>
      <p:pic>
        <p:nvPicPr>
          <p:cNvPr id="4" name="Image 0" descr="preencoded.png">    </p:cNvPr>
          <p:cNvPicPr>
            <a:picLocks noChangeAspect="1"/>
          </p:cNvPicPr>
          <p:nvPr/>
        </p:nvPicPr>
        <p:blipFill>
          <a:blip r:embed="rId1"/>
          <a:stretch>
            <a:fillRect/>
          </a:stretch>
        </p:blipFill>
        <p:spPr>
          <a:xfrm>
            <a:off x="473943" y="1798886"/>
            <a:ext cx="1527274" cy="943868"/>
          </a:xfrm>
          <a:prstGeom prst="rect">
            <a:avLst/>
          </a:prstGeom>
        </p:spPr>
      </p:pic>
      <p:sp>
        <p:nvSpPr>
          <p:cNvPr id="5" name="Text 2"/>
          <p:cNvSpPr/>
          <p:nvPr/>
        </p:nvSpPr>
        <p:spPr>
          <a:xfrm>
            <a:off x="473943" y="2890838"/>
            <a:ext cx="1558975"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llama.cpp</a:t>
            </a:r>
            <a:endParaRPr lang="en-US" sz="1200" dirty="0"/>
          </a:p>
        </p:txBody>
      </p:sp>
      <p:sp>
        <p:nvSpPr>
          <p:cNvPr id="6" name="Text 3"/>
          <p:cNvSpPr/>
          <p:nvPr/>
        </p:nvSpPr>
        <p:spPr>
          <a:xfrm>
            <a:off x="473943" y="3156719"/>
            <a:ext cx="2633290" cy="132672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Motor de inferência leve e eficiente, ideal para desenvolvimento local e execução em CPUs sem GPU dedicada. Suporta nativamente o formato </a:t>
            </a:r>
            <a:pPr algn="l" indent="0" marL="0">
              <a:lnSpc>
                <a:spcPct val="133000"/>
              </a:lnSpc>
              <a:buNone/>
            </a:pPr>
            <a:r>
              <a:rPr lang="en-US" sz="900" b="1" dirty="0">
                <a:solidFill>
                  <a:srgbClr val="3B3535"/>
                </a:solidFill>
                <a:latin typeface="Sora Light" pitchFamily="34" charset="0"/>
                <a:ea typeface="Sora Light" pitchFamily="34" charset="-122"/>
                <a:cs typeface="Sora Light" pitchFamily="34" charset="-120"/>
              </a:rPr>
              <a:t>GGUF</a:t>
            </a:r>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 amplamente utilizado pela comunidade de modelos open-source. É a escolha recomendada para experimentação e prototipagem rápida.</a:t>
            </a:r>
            <a:endParaRPr lang="en-US" sz="900" dirty="0"/>
          </a:p>
        </p:txBody>
      </p:sp>
      <p:pic>
        <p:nvPicPr>
          <p:cNvPr id="7" name="Image 1" descr="preencoded.png">    </p:cNvPr>
          <p:cNvPicPr>
            <a:picLocks noChangeAspect="1"/>
          </p:cNvPicPr>
          <p:nvPr/>
        </p:nvPicPr>
        <p:blipFill>
          <a:blip r:embed="rId2"/>
          <a:stretch>
            <a:fillRect/>
          </a:stretch>
        </p:blipFill>
        <p:spPr>
          <a:xfrm>
            <a:off x="3255318" y="1798886"/>
            <a:ext cx="1527274" cy="943868"/>
          </a:xfrm>
          <a:prstGeom prst="rect">
            <a:avLst/>
          </a:prstGeom>
        </p:spPr>
      </p:pic>
      <p:sp>
        <p:nvSpPr>
          <p:cNvPr id="8" name="Text 4"/>
          <p:cNvSpPr/>
          <p:nvPr/>
        </p:nvSpPr>
        <p:spPr>
          <a:xfrm>
            <a:off x="3255318" y="2890838"/>
            <a:ext cx="1558975"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vLLM</a:t>
            </a:r>
            <a:endParaRPr lang="en-US" sz="1200" dirty="0"/>
          </a:p>
        </p:txBody>
      </p:sp>
      <p:sp>
        <p:nvSpPr>
          <p:cNvPr id="9" name="Text 5"/>
          <p:cNvSpPr/>
          <p:nvPr/>
        </p:nvSpPr>
        <p:spPr>
          <a:xfrm>
            <a:off x="3255318" y="3156719"/>
            <a:ext cx="2633290" cy="132672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Focado em alta performance e cenários de produção, o vLLM implementa técnicas avançadas de otimização como </a:t>
            </a:r>
            <a:pPr algn="l" indent="0" marL="0">
              <a:lnSpc>
                <a:spcPct val="133000"/>
              </a:lnSpc>
              <a:buNone/>
            </a:pPr>
            <a:r>
              <a:rPr lang="en-US" sz="900" b="1" dirty="0">
                <a:solidFill>
                  <a:srgbClr val="3B3535"/>
                </a:solidFill>
                <a:latin typeface="Sora Light" pitchFamily="34" charset="0"/>
                <a:ea typeface="Sora Light" pitchFamily="34" charset="-122"/>
                <a:cs typeface="Sora Light" pitchFamily="34" charset="-120"/>
              </a:rPr>
              <a:t>PagedAttention</a:t>
            </a:r>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 permitindo throughput superior em GPUs. É a escolha ideal para serviços que exigem baixa latência e alto volume de requisições simultâneas.</a:t>
            </a:r>
            <a:endParaRPr lang="en-US" sz="900" dirty="0"/>
          </a:p>
        </p:txBody>
      </p:sp>
      <p:pic>
        <p:nvPicPr>
          <p:cNvPr id="10" name="Image 2" descr="preencoded.png">    </p:cNvPr>
          <p:cNvPicPr>
            <a:picLocks noChangeAspect="1"/>
          </p:cNvPicPr>
          <p:nvPr/>
        </p:nvPicPr>
        <p:blipFill>
          <a:blip r:embed="rId3"/>
          <a:stretch>
            <a:fillRect/>
          </a:stretch>
        </p:blipFill>
        <p:spPr>
          <a:xfrm>
            <a:off x="6036692" y="1798886"/>
            <a:ext cx="1527349" cy="943942"/>
          </a:xfrm>
          <a:prstGeom prst="rect">
            <a:avLst/>
          </a:prstGeom>
        </p:spPr>
      </p:pic>
      <p:sp>
        <p:nvSpPr>
          <p:cNvPr id="11" name="Text 6"/>
          <p:cNvSpPr/>
          <p:nvPr/>
        </p:nvSpPr>
        <p:spPr>
          <a:xfrm>
            <a:off x="6036692" y="2890912"/>
            <a:ext cx="1558975"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Diffusers</a:t>
            </a:r>
            <a:endParaRPr lang="en-US" sz="1200" dirty="0"/>
          </a:p>
        </p:txBody>
      </p:sp>
      <p:sp>
        <p:nvSpPr>
          <p:cNvPr id="12" name="Text 7"/>
          <p:cNvSpPr/>
          <p:nvPr/>
        </p:nvSpPr>
        <p:spPr>
          <a:xfrm>
            <a:off x="6036692" y="3156793"/>
            <a:ext cx="2633365" cy="132672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Especializado em geração de imagens, o Diffusers é o motor utilizado para executar modelos como </a:t>
            </a:r>
            <a:pPr algn="l" indent="0" marL="0">
              <a:lnSpc>
                <a:spcPct val="133000"/>
              </a:lnSpc>
              <a:buNone/>
            </a:pPr>
            <a:r>
              <a:rPr lang="en-US" sz="900" b="1" dirty="0">
                <a:solidFill>
                  <a:srgbClr val="3B3535"/>
                </a:solidFill>
                <a:latin typeface="Sora Light" pitchFamily="34" charset="0"/>
                <a:ea typeface="Sora Light" pitchFamily="34" charset="-122"/>
                <a:cs typeface="Sora Light" pitchFamily="34" charset="-120"/>
              </a:rPr>
              <a:t>Stable Diffusion</a:t>
            </a:r>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 e variantes. Permite criar, editar e transformar imagens diretamente via comandos Docker, integrando geração visual ao mesmo fluxo de trabalho dos modelos de linguagem.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73943" y="807839"/>
            <a:ext cx="3756645" cy="389706"/>
          </a:xfrm>
          <a:prstGeom prst="rect">
            <a:avLst/>
          </a:prstGeom>
          <a:noFill/>
          <a:ln/>
        </p:spPr>
        <p:txBody>
          <a:bodyPr wrap="none" lIns="0" tIns="0" rIns="0" bIns="0" rtlCol="0" anchor="t"/>
          <a:lstStyle/>
          <a:p>
            <a:pPr algn="l" indent="0" marL="0">
              <a:lnSpc>
                <a:spcPct val="104000"/>
              </a:lnSpc>
              <a:buNone/>
            </a:pPr>
            <a:r>
              <a:rPr lang="en-US" sz="2450" dirty="0">
                <a:solidFill>
                  <a:srgbClr val="1F1E1E"/>
                </a:solidFill>
                <a:latin typeface="Alexandria SemiBold" pitchFamily="34" charset="0"/>
                <a:ea typeface="Alexandria SemiBold" pitchFamily="34" charset="-122"/>
                <a:cs typeface="Alexandria SemiBold" pitchFamily="34" charset="-120"/>
              </a:rPr>
              <a:t>Dicas de Especialista</a:t>
            </a:r>
            <a:endParaRPr lang="en-US" sz="2450" dirty="0"/>
          </a:p>
        </p:txBody>
      </p:sp>
      <p:sp>
        <p:nvSpPr>
          <p:cNvPr id="3" name="Text 1"/>
          <p:cNvSpPr/>
          <p:nvPr/>
        </p:nvSpPr>
        <p:spPr>
          <a:xfrm>
            <a:off x="473943" y="1434480"/>
            <a:ext cx="8196114" cy="56859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Além dos comandos básicos de pull e run, o Docker Model Runner oferece um conjunto de comandos auxiliares que permitem gerenciar, configurar e publicar modelos de forma profissional. Dominar essas ferramentas é essencial para equipes que adotam o DMR em produção.</a:t>
            </a:r>
            <a:endParaRPr lang="en-US" sz="9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3943" y="2136353"/>
            <a:ext cx="2653010" cy="2199233"/>
          </a:xfrm>
          <a:prstGeom prst="rect">
            <a:avLst/>
          </a:prstGeom>
        </p:spPr>
      </p:pic>
      <p:sp>
        <p:nvSpPr>
          <p:cNvPr id="5" name="Text 2"/>
          <p:cNvSpPr/>
          <p:nvPr/>
        </p:nvSpPr>
        <p:spPr>
          <a:xfrm>
            <a:off x="1729383" y="2225204"/>
            <a:ext cx="142131" cy="177701"/>
          </a:xfrm>
          <a:prstGeom prst="rect">
            <a:avLst/>
          </a:prstGeom>
          <a:noFill/>
          <a:ln/>
        </p:spPr>
        <p:txBody>
          <a:bodyPr wrap="none" lIns="0" tIns="0" rIns="0" bIns="0" rtlCol="0" anchor="ctr"/>
          <a:lstStyle/>
          <a:p>
            <a:pPr algn="ctr" indent="0" marL="0">
              <a:lnSpc>
                <a:spcPct val="100000"/>
              </a:lnSpc>
              <a:buNone/>
            </a:pPr>
            <a:r>
              <a:rPr lang="en-US" sz="1100" dirty="0">
                <a:solidFill>
                  <a:srgbClr val="FFFFFF"/>
                </a:solidFill>
                <a:latin typeface="Alexandria SemiBold" pitchFamily="34" charset="0"/>
                <a:ea typeface="Alexandria SemiBold" pitchFamily="34" charset="-122"/>
                <a:cs typeface="Alexandria SemiBold" pitchFamily="34" charset="-120"/>
              </a:rPr>
              <a:t>1</a:t>
            </a:r>
            <a:endParaRPr lang="en-US" sz="1100" dirty="0"/>
          </a:p>
        </p:txBody>
      </p:sp>
      <p:sp>
        <p:nvSpPr>
          <p:cNvPr id="6" name="Text 3"/>
          <p:cNvSpPr/>
          <p:nvPr/>
        </p:nvSpPr>
        <p:spPr>
          <a:xfrm>
            <a:off x="606698" y="2610222"/>
            <a:ext cx="1558975"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docker model list</a:t>
            </a:r>
            <a:endParaRPr lang="en-US" sz="1200" dirty="0"/>
          </a:p>
        </p:txBody>
      </p:sp>
      <p:sp>
        <p:nvSpPr>
          <p:cNvPr id="7" name="Text 4"/>
          <p:cNvSpPr/>
          <p:nvPr/>
        </p:nvSpPr>
        <p:spPr>
          <a:xfrm>
            <a:off x="606698" y="2876104"/>
            <a:ext cx="2387501" cy="132672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Lista todos os modelos baixados localmente, exibindo nome, versão, tamanho em disco e motor de inferência associado. Fundamental para auditar o uso de armazenamento e identificar modelos que podem ser removidos.</a:t>
            </a:r>
            <a:endParaRPr lang="en-US" sz="9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45421" y="2136353"/>
            <a:ext cx="2653085" cy="2199233"/>
          </a:xfrm>
          <a:prstGeom prst="rect">
            <a:avLst/>
          </a:prstGeom>
        </p:spPr>
      </p:pic>
      <p:sp>
        <p:nvSpPr>
          <p:cNvPr id="9" name="Text 5"/>
          <p:cNvSpPr/>
          <p:nvPr/>
        </p:nvSpPr>
        <p:spPr>
          <a:xfrm>
            <a:off x="4500860" y="2225204"/>
            <a:ext cx="142131" cy="177701"/>
          </a:xfrm>
          <a:prstGeom prst="rect">
            <a:avLst/>
          </a:prstGeom>
          <a:noFill/>
          <a:ln/>
        </p:spPr>
        <p:txBody>
          <a:bodyPr wrap="none" lIns="0" tIns="0" rIns="0" bIns="0" rtlCol="0" anchor="ctr"/>
          <a:lstStyle/>
          <a:p>
            <a:pPr algn="ctr" indent="0" marL="0">
              <a:lnSpc>
                <a:spcPct val="100000"/>
              </a:lnSpc>
              <a:buNone/>
            </a:pPr>
            <a:r>
              <a:rPr lang="en-US" sz="1100" dirty="0">
                <a:solidFill>
                  <a:srgbClr val="FFFFFF"/>
                </a:solidFill>
                <a:latin typeface="Alexandria SemiBold" pitchFamily="34" charset="0"/>
                <a:ea typeface="Alexandria SemiBold" pitchFamily="34" charset="-122"/>
                <a:cs typeface="Alexandria SemiBold" pitchFamily="34" charset="-120"/>
              </a:rPr>
              <a:t>2</a:t>
            </a:r>
            <a:endParaRPr lang="en-US" sz="1100" dirty="0"/>
          </a:p>
        </p:txBody>
      </p:sp>
      <p:sp>
        <p:nvSpPr>
          <p:cNvPr id="10" name="Text 6"/>
          <p:cNvSpPr/>
          <p:nvPr/>
        </p:nvSpPr>
        <p:spPr>
          <a:xfrm>
            <a:off x="3378175" y="2610222"/>
            <a:ext cx="1892052"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docker model configure</a:t>
            </a:r>
            <a:endParaRPr lang="en-US" sz="1200" dirty="0"/>
          </a:p>
        </p:txBody>
      </p:sp>
      <p:sp>
        <p:nvSpPr>
          <p:cNvPr id="11" name="Text 7"/>
          <p:cNvSpPr/>
          <p:nvPr/>
        </p:nvSpPr>
        <p:spPr>
          <a:xfrm>
            <a:off x="3378175" y="2876104"/>
            <a:ext cx="2387575" cy="132672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Permite ajustar parâmetros do motor de inferência, como o tamanho do contexto (</a:t>
            </a:r>
            <a:pPr algn="l" indent="0" marL="0">
              <a:lnSpc>
                <a:spcPct val="133000"/>
              </a:lnSpc>
              <a:buNone/>
            </a:pPr>
            <a:r>
              <a:rPr lang="en-US" sz="900" i="1" dirty="0">
                <a:solidFill>
                  <a:srgbClr val="3B3535"/>
                </a:solidFill>
                <a:latin typeface="Sora Light" pitchFamily="34" charset="0"/>
                <a:ea typeface="Sora Light" pitchFamily="34" charset="-122"/>
                <a:cs typeface="Sora Light" pitchFamily="34" charset="-120"/>
              </a:rPr>
              <a:t>context window</a:t>
            </a:r>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 número de camadas GPU e temperatura de amostragem. Ajustes precisos melhoram a qualidade das respostas e otimizam o uso de recursos.</a:t>
            </a:r>
            <a:endParaRPr lang="en-US" sz="9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16972" y="2136353"/>
            <a:ext cx="2653010" cy="2199233"/>
          </a:xfrm>
          <a:prstGeom prst="rect">
            <a:avLst/>
          </a:prstGeom>
        </p:spPr>
      </p:pic>
      <p:sp>
        <p:nvSpPr>
          <p:cNvPr id="13" name="Text 8"/>
          <p:cNvSpPr/>
          <p:nvPr/>
        </p:nvSpPr>
        <p:spPr>
          <a:xfrm>
            <a:off x="7272412" y="2225204"/>
            <a:ext cx="142131" cy="177701"/>
          </a:xfrm>
          <a:prstGeom prst="rect">
            <a:avLst/>
          </a:prstGeom>
          <a:noFill/>
          <a:ln/>
        </p:spPr>
        <p:txBody>
          <a:bodyPr wrap="none" lIns="0" tIns="0" rIns="0" bIns="0" rtlCol="0" anchor="ctr"/>
          <a:lstStyle/>
          <a:p>
            <a:pPr algn="ctr" indent="0" marL="0">
              <a:lnSpc>
                <a:spcPct val="100000"/>
              </a:lnSpc>
              <a:buNone/>
            </a:pPr>
            <a:r>
              <a:rPr lang="en-US" sz="1100" dirty="0">
                <a:solidFill>
                  <a:srgbClr val="FFFFFF"/>
                </a:solidFill>
                <a:latin typeface="Alexandria SemiBold" pitchFamily="34" charset="0"/>
                <a:ea typeface="Alexandria SemiBold" pitchFamily="34" charset="-122"/>
                <a:cs typeface="Alexandria SemiBold" pitchFamily="34" charset="-120"/>
              </a:rPr>
              <a:t>3</a:t>
            </a:r>
            <a:endParaRPr lang="en-US" sz="1100" dirty="0"/>
          </a:p>
        </p:txBody>
      </p:sp>
      <p:sp>
        <p:nvSpPr>
          <p:cNvPr id="14" name="Text 9"/>
          <p:cNvSpPr/>
          <p:nvPr/>
        </p:nvSpPr>
        <p:spPr>
          <a:xfrm>
            <a:off x="6149727" y="2610222"/>
            <a:ext cx="1558975"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docker model tag</a:t>
            </a:r>
            <a:endParaRPr lang="en-US" sz="1200" dirty="0"/>
          </a:p>
        </p:txBody>
      </p:sp>
      <p:sp>
        <p:nvSpPr>
          <p:cNvPr id="15" name="Text 10"/>
          <p:cNvSpPr/>
          <p:nvPr/>
        </p:nvSpPr>
        <p:spPr>
          <a:xfrm>
            <a:off x="6149727" y="2876104"/>
            <a:ext cx="2387501" cy="1326728"/>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Organize e versione seus próprios modelos fine-tuned utilizando tags semânticas. Modelos podem ser publicados no seu namespace do Docker Hub, compartilhando configurações otimizadas com toda a equipe ou comunidade.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73943" y="551111"/>
            <a:ext cx="4836988" cy="389706"/>
          </a:xfrm>
          <a:prstGeom prst="rect">
            <a:avLst/>
          </a:prstGeom>
          <a:noFill/>
          <a:ln/>
        </p:spPr>
        <p:txBody>
          <a:bodyPr wrap="none" lIns="0" tIns="0" rIns="0" bIns="0" rtlCol="0" anchor="t"/>
          <a:lstStyle/>
          <a:p>
            <a:pPr algn="l" indent="0" marL="0">
              <a:lnSpc>
                <a:spcPct val="104000"/>
              </a:lnSpc>
              <a:buNone/>
            </a:pPr>
            <a:r>
              <a:rPr lang="en-US" sz="2450" dirty="0">
                <a:solidFill>
                  <a:srgbClr val="1F1E1E"/>
                </a:solidFill>
                <a:latin typeface="Alexandria SemiBold" pitchFamily="34" charset="0"/>
                <a:ea typeface="Alexandria SemiBold" pitchFamily="34" charset="-122"/>
                <a:cs typeface="Alexandria SemiBold" pitchFamily="34" charset="-120"/>
              </a:rPr>
              <a:t>O Futuro da sua Stack de IA</a:t>
            </a:r>
            <a:endParaRPr lang="en-US" sz="2450" dirty="0"/>
          </a:p>
        </p:txBody>
      </p:sp>
      <p:sp>
        <p:nvSpPr>
          <p:cNvPr id="3" name="Text 1"/>
          <p:cNvSpPr/>
          <p:nvPr/>
        </p:nvSpPr>
        <p:spPr>
          <a:xfrm>
            <a:off x="473943" y="1177751"/>
            <a:ext cx="8196114" cy="379065"/>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O Docker Model Runner representa uma mudança de paradigma na forma como desenvolvedores e organizações adotam inteligência artificial. Ao eliminar barreiras técnicas e operacionais, o DMR democratiza o acesso a modelos de IA de última geração.</a:t>
            </a:r>
            <a:endParaRPr lang="en-US" sz="900" dirty="0"/>
          </a:p>
        </p:txBody>
      </p:sp>
      <p:sp>
        <p:nvSpPr>
          <p:cNvPr id="4" name="Shape 2"/>
          <p:cNvSpPr/>
          <p:nvPr/>
        </p:nvSpPr>
        <p:spPr>
          <a:xfrm>
            <a:off x="473943" y="1690092"/>
            <a:ext cx="2653010" cy="2123405"/>
          </a:xfrm>
          <a:prstGeom prst="roundRect">
            <a:avLst>
              <a:gd name="adj" fmla="val 2344"/>
            </a:avLst>
          </a:prstGeom>
          <a:solidFill>
            <a:srgbClr val="D5DCF6"/>
          </a:solidFill>
          <a:ln w="4763">
            <a:solidFill>
              <a:srgbClr val="BBC2DC"/>
            </a:solidFill>
            <a:prstDash val="solid"/>
          </a:ln>
        </p:spPr>
      </p:sp>
      <p:sp>
        <p:nvSpPr>
          <p:cNvPr id="5" name="Shape 3"/>
          <p:cNvSpPr/>
          <p:nvPr/>
        </p:nvSpPr>
        <p:spPr>
          <a:xfrm>
            <a:off x="597173" y="1813322"/>
            <a:ext cx="355402" cy="355402"/>
          </a:xfrm>
          <a:prstGeom prst="roundRect">
            <a:avLst>
              <a:gd name="adj" fmla="val 16078774"/>
            </a:avLst>
          </a:prstGeom>
          <a:solidFill>
            <a:srgbClr val="1A2D7A"/>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4879" y="1911028"/>
            <a:ext cx="159916" cy="159916"/>
          </a:xfrm>
          <a:prstGeom prst="rect">
            <a:avLst/>
          </a:prstGeom>
        </p:spPr>
      </p:pic>
      <p:sp>
        <p:nvSpPr>
          <p:cNvPr id="7" name="Text 4"/>
          <p:cNvSpPr/>
          <p:nvPr/>
        </p:nvSpPr>
        <p:spPr>
          <a:xfrm>
            <a:off x="597173" y="2287191"/>
            <a:ext cx="1558975"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Privacidade Total</a:t>
            </a:r>
            <a:endParaRPr lang="en-US" sz="1200" dirty="0"/>
          </a:p>
        </p:txBody>
      </p:sp>
      <p:sp>
        <p:nvSpPr>
          <p:cNvPr id="8" name="Text 5"/>
          <p:cNvSpPr/>
          <p:nvPr/>
        </p:nvSpPr>
        <p:spPr>
          <a:xfrm>
            <a:off x="597173" y="2553072"/>
            <a:ext cx="2406551" cy="758130"/>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Seus dados nunca saem da sua máquina. Processamento local elimina riscos de vazamento e garante conformidade com regulamentações como LGPD e GDPR.</a:t>
            </a:r>
            <a:endParaRPr lang="en-US" sz="900" dirty="0"/>
          </a:p>
        </p:txBody>
      </p:sp>
      <p:sp>
        <p:nvSpPr>
          <p:cNvPr id="9" name="Shape 6"/>
          <p:cNvSpPr/>
          <p:nvPr/>
        </p:nvSpPr>
        <p:spPr>
          <a:xfrm>
            <a:off x="3245421" y="1690092"/>
            <a:ext cx="2653085" cy="2123405"/>
          </a:xfrm>
          <a:prstGeom prst="roundRect">
            <a:avLst>
              <a:gd name="adj" fmla="val 2344"/>
            </a:avLst>
          </a:prstGeom>
          <a:solidFill>
            <a:srgbClr val="D5DCF6"/>
          </a:solidFill>
          <a:ln w="4763">
            <a:solidFill>
              <a:srgbClr val="BBC2DC"/>
            </a:solidFill>
            <a:prstDash val="solid"/>
          </a:ln>
        </p:spPr>
      </p:sp>
      <p:sp>
        <p:nvSpPr>
          <p:cNvPr id="10" name="Shape 7"/>
          <p:cNvSpPr/>
          <p:nvPr/>
        </p:nvSpPr>
        <p:spPr>
          <a:xfrm>
            <a:off x="3368650" y="1813322"/>
            <a:ext cx="355402" cy="355402"/>
          </a:xfrm>
          <a:prstGeom prst="roundRect">
            <a:avLst>
              <a:gd name="adj" fmla="val 16078774"/>
            </a:avLst>
          </a:prstGeom>
          <a:solidFill>
            <a:srgbClr val="1A2D7A"/>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6356" y="1911028"/>
            <a:ext cx="159916" cy="159916"/>
          </a:xfrm>
          <a:prstGeom prst="rect">
            <a:avLst/>
          </a:prstGeom>
        </p:spPr>
      </p:pic>
      <p:sp>
        <p:nvSpPr>
          <p:cNvPr id="12" name="Text 8"/>
          <p:cNvSpPr/>
          <p:nvPr/>
        </p:nvSpPr>
        <p:spPr>
          <a:xfrm>
            <a:off x="3368650" y="2287191"/>
            <a:ext cx="1558975"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Redução de Custos</a:t>
            </a:r>
            <a:endParaRPr lang="en-US" sz="1200" dirty="0"/>
          </a:p>
        </p:txBody>
      </p:sp>
      <p:sp>
        <p:nvSpPr>
          <p:cNvPr id="13" name="Text 9"/>
          <p:cNvSpPr/>
          <p:nvPr/>
        </p:nvSpPr>
        <p:spPr>
          <a:xfrm>
            <a:off x="3368650" y="2553072"/>
            <a:ext cx="2406625" cy="947663"/>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Elimine gastos com tokens de APIs em nuvem e instâncias de GPU remotas. Modelos locais rodam no hardware disponível, reduzindo custos operacionais de forma significativa.</a:t>
            </a:r>
            <a:endParaRPr lang="en-US" sz="900" dirty="0"/>
          </a:p>
        </p:txBody>
      </p:sp>
      <p:sp>
        <p:nvSpPr>
          <p:cNvPr id="14" name="Shape 10"/>
          <p:cNvSpPr/>
          <p:nvPr/>
        </p:nvSpPr>
        <p:spPr>
          <a:xfrm>
            <a:off x="6016972" y="1690092"/>
            <a:ext cx="2653010" cy="2123405"/>
          </a:xfrm>
          <a:prstGeom prst="roundRect">
            <a:avLst>
              <a:gd name="adj" fmla="val 2344"/>
            </a:avLst>
          </a:prstGeom>
          <a:solidFill>
            <a:srgbClr val="D5DCF6"/>
          </a:solidFill>
          <a:ln w="4763">
            <a:solidFill>
              <a:srgbClr val="BBC2DC"/>
            </a:solidFill>
            <a:prstDash val="solid"/>
          </a:ln>
        </p:spPr>
      </p:sp>
      <p:sp>
        <p:nvSpPr>
          <p:cNvPr id="15" name="Shape 11"/>
          <p:cNvSpPr/>
          <p:nvPr/>
        </p:nvSpPr>
        <p:spPr>
          <a:xfrm>
            <a:off x="6140202" y="1813322"/>
            <a:ext cx="355402" cy="355402"/>
          </a:xfrm>
          <a:prstGeom prst="roundRect">
            <a:avLst>
              <a:gd name="adj" fmla="val 16078774"/>
            </a:avLst>
          </a:prstGeom>
          <a:solidFill>
            <a:srgbClr val="1A2D7A"/>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7908" y="1911028"/>
            <a:ext cx="159916" cy="159916"/>
          </a:xfrm>
          <a:prstGeom prst="rect">
            <a:avLst/>
          </a:prstGeom>
        </p:spPr>
      </p:pic>
      <p:sp>
        <p:nvSpPr>
          <p:cNvPr id="17" name="Text 12"/>
          <p:cNvSpPr/>
          <p:nvPr/>
        </p:nvSpPr>
        <p:spPr>
          <a:xfrm>
            <a:off x="6140202" y="2287191"/>
            <a:ext cx="2212107" cy="194816"/>
          </a:xfrm>
          <a:prstGeom prst="rect">
            <a:avLst/>
          </a:prstGeom>
          <a:noFill/>
          <a:ln/>
        </p:spPr>
        <p:txBody>
          <a:bodyPr wrap="none" lIns="0" tIns="0" rIns="0" bIns="0" rtlCol="0" anchor="t"/>
          <a:lstStyle/>
          <a:p>
            <a:pPr algn="l" indent="0" marL="0">
              <a:lnSpc>
                <a:spcPct val="104000"/>
              </a:lnSpc>
              <a:buNone/>
            </a:pPr>
            <a:r>
              <a:rPr lang="en-US" sz="1200" dirty="0">
                <a:solidFill>
                  <a:srgbClr val="3B3535"/>
                </a:solidFill>
                <a:latin typeface="Alexandria SemiBold" pitchFamily="34" charset="0"/>
                <a:ea typeface="Alexandria SemiBold" pitchFamily="34" charset="-122"/>
                <a:cs typeface="Alexandria SemiBold" pitchFamily="34" charset="-120"/>
              </a:rPr>
              <a:t>Desenvolvimento Acelerado</a:t>
            </a:r>
            <a:endParaRPr lang="en-US" sz="1200" dirty="0"/>
          </a:p>
        </p:txBody>
      </p:sp>
      <p:sp>
        <p:nvSpPr>
          <p:cNvPr id="18" name="Text 13"/>
          <p:cNvSpPr/>
          <p:nvPr/>
        </p:nvSpPr>
        <p:spPr>
          <a:xfrm>
            <a:off x="6140202" y="2553072"/>
            <a:ext cx="2406551" cy="1137196"/>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Integre modelos locais ao seu fluxo Docker existente e comece a prototipar em minutos. A compatibilidade com a API OpenAI garante que suas ferramentas atuais funcionem sem alterações.</a:t>
            </a:r>
            <a:endParaRPr lang="en-US" sz="900" dirty="0"/>
          </a:p>
        </p:txBody>
      </p:sp>
      <p:sp>
        <p:nvSpPr>
          <p:cNvPr id="19" name="Text 14"/>
          <p:cNvSpPr/>
          <p:nvPr/>
        </p:nvSpPr>
        <p:spPr>
          <a:xfrm>
            <a:off x="651644" y="4080049"/>
            <a:ext cx="8018413" cy="379065"/>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3B3535"/>
                </a:solidFill>
                <a:latin typeface="Sora Light" pitchFamily="34" charset="0"/>
                <a:ea typeface="Sora Light" pitchFamily="34" charset="-122"/>
                <a:cs typeface="Sora Light" pitchFamily="34" charset="-120"/>
              </a:rPr>
              <a:t>O Docker Model Runner não é apenas uma ferramenta — é uma ponte entre o presente e o futuro do desenvolvimento de IA, onde privacidade, eficiência e simplicidade coexistem no mesmo ecossistema.</a:t>
            </a:r>
            <a:endParaRPr lang="en-US" sz="900" dirty="0"/>
          </a:p>
        </p:txBody>
      </p:sp>
      <p:sp>
        <p:nvSpPr>
          <p:cNvPr id="20" name="Shape 15"/>
          <p:cNvSpPr/>
          <p:nvPr/>
        </p:nvSpPr>
        <p:spPr>
          <a:xfrm>
            <a:off x="473943" y="3946773"/>
            <a:ext cx="14288" cy="645616"/>
          </a:xfrm>
          <a:prstGeom prst="rect">
            <a:avLst/>
          </a:prstGeom>
          <a:solidFill>
            <a:srgbClr val="1A2D7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2026-06-02T20:57:41Z</dcterms:created>
  <dcterms:modified xsi:type="dcterms:W3CDTF">2026-06-02T20:57:41Z</dcterms:modified>
</cp:coreProperties>
</file>